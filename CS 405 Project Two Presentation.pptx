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74" r:id="rId17"/>
    <p:sldId id="264" r:id="rId18"/>
    <p:sldId id="265" r:id="rId19"/>
    <p:sldId id="266" r:id="rId20"/>
    <p:sldId id="267" r:id="rId21"/>
    <p:sldId id="268" r:id="rId22"/>
    <p:sldId id="269" r:id="rId23"/>
  </p:sldIdLst>
  <p:sldSz cx="12192000" cy="6858000"/>
  <p:notesSz cx="6858000" cy="9144000"/>
  <p:embeddedFontLst>
    <p:embeddedFont>
      <p:font typeface="Century Gothic" panose="020B0502020202020204" pitchFamily="34" charset="0"/>
      <p:regular r:id="rId25"/>
      <p:bold r:id="rId26"/>
      <p:italic r:id="rId27"/>
      <p:boldItalic r:id="rId28"/>
    </p:embeddedFont>
  </p:embeddedFontLst>
  <p:custDataLst>
    <p:tags r:id="rId2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E578E5-91EB-4382-8671-4F6AE767A077}" v="62" dt="2026-10-23T16:23:03.023"/>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058" autoAdjust="0"/>
  </p:normalViewPr>
  <p:slideViewPr>
    <p:cSldViewPr snapToGrid="0">
      <p:cViewPr varScale="1">
        <p:scale>
          <a:sx n="64" d="100"/>
          <a:sy n="64" d="100"/>
        </p:scale>
        <p:origin x="235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customschemas.google.com/relationships/presentationmetadata" Target="metadata"/><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ley, Grant" userId="0895639d-7fad-4c05-ab8d-5a440f8e67f7" providerId="ADAL" clId="{D1D781B7-4C02-4565-8C6D-3B360B437974}"/>
    <pc:docChg chg="undo custSel addSld delSld modSld">
      <pc:chgData name="Manley, Grant" userId="0895639d-7fad-4c05-ab8d-5a440f8e67f7" providerId="ADAL" clId="{D1D781B7-4C02-4565-8C6D-3B360B437974}" dt="2026-10-17T01:20:00.869" v="8287" actId="1037"/>
      <pc:docMkLst>
        <pc:docMk/>
      </pc:docMkLst>
      <pc:sldChg chg="modSp mod">
        <pc:chgData name="Manley, Grant" userId="0895639d-7fad-4c05-ab8d-5a440f8e67f7" providerId="ADAL" clId="{D1D781B7-4C02-4565-8C6D-3B360B437974}" dt="2026-10-17T01:18:41.634" v="8228" actId="1036"/>
        <pc:sldMkLst>
          <pc:docMk/>
          <pc:sldMk cId="0" sldId="256"/>
        </pc:sldMkLst>
        <pc:spChg chg="mod">
          <ac:chgData name="Manley, Grant" userId="0895639d-7fad-4c05-ab8d-5a440f8e67f7" providerId="ADAL" clId="{D1D781B7-4C02-4565-8C6D-3B360B437974}" dt="2026-10-16T16:18:33.990" v="16" actId="20577"/>
          <ac:spMkLst>
            <pc:docMk/>
            <pc:sldMk cId="0" sldId="256"/>
            <ac:spMk id="145" creationId="{00000000-0000-0000-0000-000000000000}"/>
          </ac:spMkLst>
        </pc:spChg>
        <pc:picChg chg="mod">
          <ac:chgData name="Manley, Grant" userId="0895639d-7fad-4c05-ab8d-5a440f8e67f7" providerId="ADAL" clId="{D1D781B7-4C02-4565-8C6D-3B360B437974}" dt="2026-10-17T01:18:41.634" v="8228" actId="1036"/>
          <ac:picMkLst>
            <pc:docMk/>
            <pc:sldMk cId="0" sldId="256"/>
            <ac:picMk id="4" creationId="{3DF76684-8890-60DD-A81A-F215D47E06E2}"/>
          </ac:picMkLst>
        </pc:picChg>
      </pc:sldChg>
      <pc:sldChg chg="modSp mod">
        <pc:chgData name="Manley, Grant" userId="0895639d-7fad-4c05-ab8d-5a440f8e67f7" providerId="ADAL" clId="{D1D781B7-4C02-4565-8C6D-3B360B437974}" dt="2026-10-17T01:18:32.425" v="8222" actId="1038"/>
        <pc:sldMkLst>
          <pc:docMk/>
          <pc:sldMk cId="0" sldId="257"/>
        </pc:sldMkLst>
        <pc:spChg chg="mod">
          <ac:chgData name="Manley, Grant" userId="0895639d-7fad-4c05-ab8d-5a440f8e67f7" providerId="ADAL" clId="{D1D781B7-4C02-4565-8C6D-3B360B437974}" dt="2026-10-16T17:34:36.136" v="1679" actId="20577"/>
          <ac:spMkLst>
            <pc:docMk/>
            <pc:sldMk cId="0" sldId="257"/>
            <ac:spMk id="152" creationId="{00000000-0000-0000-0000-000000000000}"/>
          </ac:spMkLst>
        </pc:spChg>
        <pc:picChg chg="mod">
          <ac:chgData name="Manley, Grant" userId="0895639d-7fad-4c05-ab8d-5a440f8e67f7" providerId="ADAL" clId="{D1D781B7-4C02-4565-8C6D-3B360B437974}" dt="2026-10-17T01:18:32.425" v="8222" actId="1038"/>
          <ac:picMkLst>
            <pc:docMk/>
            <pc:sldMk cId="0" sldId="257"/>
            <ac:picMk id="3" creationId="{6B417AE2-1846-F032-5743-C5893FC66069}"/>
          </ac:picMkLst>
        </pc:picChg>
        <pc:picChg chg="mod">
          <ac:chgData name="Manley, Grant" userId="0895639d-7fad-4c05-ab8d-5a440f8e67f7" providerId="ADAL" clId="{D1D781B7-4C02-4565-8C6D-3B360B437974}" dt="2026-10-16T16:23:52.024" v="200" actId="14100"/>
          <ac:picMkLst>
            <pc:docMk/>
            <pc:sldMk cId="0" sldId="257"/>
            <ac:picMk id="153" creationId="{00000000-0000-0000-0000-000000000000}"/>
          </ac:picMkLst>
        </pc:picChg>
      </pc:sldChg>
      <pc:sldChg chg="addSp delSp modSp mod">
        <pc:chgData name="Manley, Grant" userId="0895639d-7fad-4c05-ab8d-5a440f8e67f7" providerId="ADAL" clId="{D1D781B7-4C02-4565-8C6D-3B360B437974}" dt="2026-10-17T01:18:22.596" v="8215" actId="1036"/>
        <pc:sldMkLst>
          <pc:docMk/>
          <pc:sldMk cId="0" sldId="258"/>
        </pc:sldMkLst>
        <pc:graphicFrameChg chg="mod modGraphic">
          <ac:chgData name="Manley, Grant" userId="0895639d-7fad-4c05-ab8d-5a440f8e67f7" providerId="ADAL" clId="{D1D781B7-4C02-4565-8C6D-3B360B437974}" dt="2026-10-16T17:39:20.336" v="1852" actId="207"/>
          <ac:graphicFrameMkLst>
            <pc:docMk/>
            <pc:sldMk cId="0" sldId="258"/>
            <ac:graphicFrameMk id="161" creationId="{00000000-0000-0000-0000-000000000000}"/>
          </ac:graphicFrameMkLst>
        </pc:graphicFrameChg>
        <pc:picChg chg="mod">
          <ac:chgData name="Manley, Grant" userId="0895639d-7fad-4c05-ab8d-5a440f8e67f7" providerId="ADAL" clId="{D1D781B7-4C02-4565-8C6D-3B360B437974}" dt="2026-10-17T01:18:22.596" v="8215" actId="1036"/>
          <ac:picMkLst>
            <pc:docMk/>
            <pc:sldMk cId="0" sldId="258"/>
            <ac:picMk id="3" creationId="{EE439843-EB59-C3BC-FD9C-A8F807030C80}"/>
          </ac:picMkLst>
        </pc:picChg>
      </pc:sldChg>
      <pc:sldChg chg="modSp mod">
        <pc:chgData name="Manley, Grant" userId="0895639d-7fad-4c05-ab8d-5a440f8e67f7" providerId="ADAL" clId="{D1D781B7-4C02-4565-8C6D-3B360B437974}" dt="2026-10-17T01:18:14.489" v="8210" actId="1076"/>
        <pc:sldMkLst>
          <pc:docMk/>
          <pc:sldMk cId="0" sldId="259"/>
        </pc:sldMkLst>
        <pc:spChg chg="mod">
          <ac:chgData name="Manley, Grant" userId="0895639d-7fad-4c05-ab8d-5a440f8e67f7" providerId="ADAL" clId="{D1D781B7-4C02-4565-8C6D-3B360B437974}" dt="2026-10-16T19:09:10.895" v="2453" actId="313"/>
          <ac:spMkLst>
            <pc:docMk/>
            <pc:sldMk cId="0" sldId="259"/>
            <ac:spMk id="168" creationId="{00000000-0000-0000-0000-000000000000}"/>
          </ac:spMkLst>
        </pc:spChg>
        <pc:picChg chg="mod">
          <ac:chgData name="Manley, Grant" userId="0895639d-7fad-4c05-ab8d-5a440f8e67f7" providerId="ADAL" clId="{D1D781B7-4C02-4565-8C6D-3B360B437974}" dt="2026-10-17T01:18:14.489" v="8210" actId="1076"/>
          <ac:picMkLst>
            <pc:docMk/>
            <pc:sldMk cId="0" sldId="259"/>
            <ac:picMk id="3" creationId="{24092A31-A9F6-675D-8553-6D4CCFB5E6CF}"/>
          </ac:picMkLst>
        </pc:picChg>
      </pc:sldChg>
      <pc:sldChg chg="addSp delSp modSp mod">
        <pc:chgData name="Manley, Grant" userId="0895639d-7fad-4c05-ab8d-5a440f8e67f7" providerId="ADAL" clId="{D1D781B7-4C02-4565-8C6D-3B360B437974}" dt="2026-10-17T01:18:04.538" v="8208" actId="1036"/>
        <pc:sldMkLst>
          <pc:docMk/>
          <pc:sldMk cId="0" sldId="260"/>
        </pc:sldMkLst>
        <pc:spChg chg="mod">
          <ac:chgData name="Manley, Grant" userId="0895639d-7fad-4c05-ab8d-5a440f8e67f7" providerId="ADAL" clId="{D1D781B7-4C02-4565-8C6D-3B360B437974}" dt="2026-10-16T19:13:40.913" v="2455" actId="207"/>
          <ac:spMkLst>
            <pc:docMk/>
            <pc:sldMk cId="0" sldId="260"/>
            <ac:spMk id="174" creationId="{00000000-0000-0000-0000-000000000000}"/>
          </ac:spMkLst>
        </pc:spChg>
        <pc:graphicFrameChg chg="add mod modGraphic">
          <ac:chgData name="Manley, Grant" userId="0895639d-7fad-4c05-ab8d-5a440f8e67f7" providerId="ADAL" clId="{D1D781B7-4C02-4565-8C6D-3B360B437974}" dt="2026-10-16T19:55:19.267" v="2552" actId="2711"/>
          <ac:graphicFrameMkLst>
            <pc:docMk/>
            <pc:sldMk cId="0" sldId="260"/>
            <ac:graphicFrameMk id="2" creationId="{5A39B0F1-6821-E95C-FF4D-85F2A9F454C7}"/>
          </ac:graphicFrameMkLst>
        </pc:graphicFrameChg>
        <pc:picChg chg="mod">
          <ac:chgData name="Manley, Grant" userId="0895639d-7fad-4c05-ab8d-5a440f8e67f7" providerId="ADAL" clId="{D1D781B7-4C02-4565-8C6D-3B360B437974}" dt="2026-10-17T01:18:04.538" v="8208" actId="1036"/>
          <ac:picMkLst>
            <pc:docMk/>
            <pc:sldMk cId="0" sldId="260"/>
            <ac:picMk id="4" creationId="{B6C47E04-924C-2266-2689-145BD27C00B1}"/>
          </ac:picMkLst>
        </pc:picChg>
      </pc:sldChg>
      <pc:sldChg chg="addSp delSp modSp mod">
        <pc:chgData name="Manley, Grant" userId="0895639d-7fad-4c05-ab8d-5a440f8e67f7" providerId="ADAL" clId="{D1D781B7-4C02-4565-8C6D-3B360B437974}" dt="2026-10-17T01:17:57.750" v="8203" actId="1037"/>
        <pc:sldMkLst>
          <pc:docMk/>
          <pc:sldMk cId="0" sldId="261"/>
        </pc:sldMkLst>
        <pc:graphicFrameChg chg="add mod modGraphic">
          <ac:chgData name="Manley, Grant" userId="0895639d-7fad-4c05-ab8d-5a440f8e67f7" providerId="ADAL" clId="{D1D781B7-4C02-4565-8C6D-3B360B437974}" dt="2026-10-16T19:55:04.402" v="2551" actId="113"/>
          <ac:graphicFrameMkLst>
            <pc:docMk/>
            <pc:sldMk cId="0" sldId="261"/>
            <ac:graphicFrameMk id="2" creationId="{2E211E9C-DDA9-A258-D21A-45CFE6D4EDC3}"/>
          </ac:graphicFrameMkLst>
        </pc:graphicFrameChg>
        <pc:picChg chg="mod">
          <ac:chgData name="Manley, Grant" userId="0895639d-7fad-4c05-ab8d-5a440f8e67f7" providerId="ADAL" clId="{D1D781B7-4C02-4565-8C6D-3B360B437974}" dt="2026-10-17T01:17:57.750" v="8203" actId="1037"/>
          <ac:picMkLst>
            <pc:docMk/>
            <pc:sldMk cId="0" sldId="261"/>
            <ac:picMk id="4" creationId="{89E67C70-F0E7-A496-B69C-85CF1FBAABF8}"/>
          </ac:picMkLst>
        </pc:picChg>
      </pc:sldChg>
      <pc:sldChg chg="addSp delSp modSp mod">
        <pc:chgData name="Manley, Grant" userId="0895639d-7fad-4c05-ab8d-5a440f8e67f7" providerId="ADAL" clId="{D1D781B7-4C02-4565-8C6D-3B360B437974}" dt="2026-10-17T01:17:47.553" v="8196" actId="1076"/>
        <pc:sldMkLst>
          <pc:docMk/>
          <pc:sldMk cId="0" sldId="262"/>
        </pc:sldMkLst>
        <pc:graphicFrameChg chg="add mod modGraphic">
          <ac:chgData name="Manley, Grant" userId="0895639d-7fad-4c05-ab8d-5a440f8e67f7" providerId="ADAL" clId="{D1D781B7-4C02-4565-8C6D-3B360B437974}" dt="2026-10-16T19:58:41.800" v="2560" actId="113"/>
          <ac:graphicFrameMkLst>
            <pc:docMk/>
            <pc:sldMk cId="0" sldId="262"/>
            <ac:graphicFrameMk id="2" creationId="{EA58FD2C-DB7E-E0E0-CEA4-D3BB8285562D}"/>
          </ac:graphicFrameMkLst>
        </pc:graphicFrameChg>
        <pc:picChg chg="mod">
          <ac:chgData name="Manley, Grant" userId="0895639d-7fad-4c05-ab8d-5a440f8e67f7" providerId="ADAL" clId="{D1D781B7-4C02-4565-8C6D-3B360B437974}" dt="2026-10-17T01:17:47.553" v="8196" actId="1076"/>
          <ac:picMkLst>
            <pc:docMk/>
            <pc:sldMk cId="0" sldId="262"/>
            <ac:picMk id="4" creationId="{B62057EB-0668-62F7-A1BF-2E8782290705}"/>
          </ac:picMkLst>
        </pc:picChg>
      </pc:sldChg>
      <pc:sldChg chg="addSp delSp modSp mod">
        <pc:chgData name="Manley, Grant" userId="0895639d-7fad-4c05-ab8d-5a440f8e67f7" providerId="ADAL" clId="{D1D781B7-4C02-4565-8C6D-3B360B437974}" dt="2026-10-17T01:17:39.684" v="8195" actId="1038"/>
        <pc:sldMkLst>
          <pc:docMk/>
          <pc:sldMk cId="0" sldId="263"/>
        </pc:sldMkLst>
        <pc:spChg chg="add mod">
          <ac:chgData name="Manley, Grant" userId="0895639d-7fad-4c05-ab8d-5a440f8e67f7" providerId="ADAL" clId="{D1D781B7-4C02-4565-8C6D-3B360B437974}" dt="2026-10-16T20:53:00.560" v="3773" actId="20577"/>
          <ac:spMkLst>
            <pc:docMk/>
            <pc:sldMk cId="0" sldId="263"/>
            <ac:spMk id="5" creationId="{932FC4D9-6C8F-51FB-1471-A1C548872719}"/>
          </ac:spMkLst>
        </pc:spChg>
        <pc:picChg chg="mod">
          <ac:chgData name="Manley, Grant" userId="0895639d-7fad-4c05-ab8d-5a440f8e67f7" providerId="ADAL" clId="{D1D781B7-4C02-4565-8C6D-3B360B437974}" dt="2026-10-17T01:17:39.684" v="8195" actId="1038"/>
          <ac:picMkLst>
            <pc:docMk/>
            <pc:sldMk cId="0" sldId="263"/>
            <ac:picMk id="3" creationId="{338E4AEF-0A46-C0A1-07CA-DE05FDA28758}"/>
          </ac:picMkLst>
        </pc:picChg>
        <pc:picChg chg="add mod">
          <ac:chgData name="Manley, Grant" userId="0895639d-7fad-4c05-ab8d-5a440f8e67f7" providerId="ADAL" clId="{D1D781B7-4C02-4565-8C6D-3B360B437974}" dt="2026-10-16T20:38:10.377" v="2750" actId="1037"/>
          <ac:picMkLst>
            <pc:docMk/>
            <pc:sldMk cId="0" sldId="263"/>
            <ac:picMk id="7" creationId="{5BBFE4C3-F451-87E8-63DA-F2325D84BCD6}"/>
          </ac:picMkLst>
        </pc:picChg>
      </pc:sldChg>
      <pc:sldChg chg="modSp mod">
        <pc:chgData name="Manley, Grant" userId="0895639d-7fad-4c05-ab8d-5a440f8e67f7" providerId="ADAL" clId="{D1D781B7-4C02-4565-8C6D-3B360B437974}" dt="2026-10-17T01:19:22.004" v="8257" actId="1037"/>
        <pc:sldMkLst>
          <pc:docMk/>
          <pc:sldMk cId="0" sldId="264"/>
        </pc:sldMkLst>
        <pc:picChg chg="mod">
          <ac:chgData name="Manley, Grant" userId="0895639d-7fad-4c05-ab8d-5a440f8e67f7" providerId="ADAL" clId="{D1D781B7-4C02-4565-8C6D-3B360B437974}" dt="2026-10-17T01:19:22.004" v="8257" actId="1037"/>
          <ac:picMkLst>
            <pc:docMk/>
            <pc:sldMk cId="0" sldId="264"/>
            <ac:picMk id="2" creationId="{E0FE27F5-5287-B862-510A-7579AFCEDC1A}"/>
          </ac:picMkLst>
        </pc:picChg>
      </pc:sldChg>
      <pc:sldChg chg="modSp mod">
        <pc:chgData name="Manley, Grant" userId="0895639d-7fad-4c05-ab8d-5a440f8e67f7" providerId="ADAL" clId="{D1D781B7-4C02-4565-8C6D-3B360B437974}" dt="2026-10-17T01:19:29.735" v="8267" actId="1037"/>
        <pc:sldMkLst>
          <pc:docMk/>
          <pc:sldMk cId="0" sldId="265"/>
        </pc:sldMkLst>
        <pc:spChg chg="mod">
          <ac:chgData name="Manley, Grant" userId="0895639d-7fad-4c05-ab8d-5a440f8e67f7" providerId="ADAL" clId="{D1D781B7-4C02-4565-8C6D-3B360B437974}" dt="2026-10-16T21:20:45.522" v="6082" actId="27636"/>
          <ac:spMkLst>
            <pc:docMk/>
            <pc:sldMk cId="0" sldId="265"/>
            <ac:spMk id="210" creationId="{00000000-0000-0000-0000-000000000000}"/>
          </ac:spMkLst>
        </pc:spChg>
        <pc:picChg chg="mod">
          <ac:chgData name="Manley, Grant" userId="0895639d-7fad-4c05-ab8d-5a440f8e67f7" providerId="ADAL" clId="{D1D781B7-4C02-4565-8C6D-3B360B437974}" dt="2026-10-17T01:19:29.735" v="8267" actId="1037"/>
          <ac:picMkLst>
            <pc:docMk/>
            <pc:sldMk cId="0" sldId="265"/>
            <ac:picMk id="2" creationId="{E4FDF817-F6CC-ECDB-67B1-9FEB9D173359}"/>
          </ac:picMkLst>
        </pc:picChg>
      </pc:sldChg>
      <pc:sldChg chg="addSp delSp modSp mod">
        <pc:chgData name="Manley, Grant" userId="0895639d-7fad-4c05-ab8d-5a440f8e67f7" providerId="ADAL" clId="{D1D781B7-4C02-4565-8C6D-3B360B437974}" dt="2026-10-17T01:19:36.587" v="8273" actId="1038"/>
        <pc:sldMkLst>
          <pc:docMk/>
          <pc:sldMk cId="0" sldId="266"/>
        </pc:sldMkLst>
        <pc:graphicFrameChg chg="add mod modGraphic">
          <ac:chgData name="Manley, Grant" userId="0895639d-7fad-4c05-ab8d-5a440f8e67f7" providerId="ADAL" clId="{D1D781B7-4C02-4565-8C6D-3B360B437974}" dt="2026-10-16T21:31:40.135" v="6559" actId="20577"/>
          <ac:graphicFrameMkLst>
            <pc:docMk/>
            <pc:sldMk cId="0" sldId="266"/>
            <ac:graphicFrameMk id="6" creationId="{C2228DE1-4365-5E8C-3BEE-A999ECAA0DE5}"/>
          </ac:graphicFrameMkLst>
        </pc:graphicFrameChg>
        <pc:picChg chg="mod">
          <ac:chgData name="Manley, Grant" userId="0895639d-7fad-4c05-ab8d-5a440f8e67f7" providerId="ADAL" clId="{D1D781B7-4C02-4565-8C6D-3B360B437974}" dt="2026-10-17T01:19:36.587" v="8273" actId="1038"/>
          <ac:picMkLst>
            <pc:docMk/>
            <pc:sldMk cId="0" sldId="266"/>
            <ac:picMk id="2" creationId="{D989AB8C-5781-2FC6-F861-124D27C2D266}"/>
          </ac:picMkLst>
        </pc:picChg>
      </pc:sldChg>
      <pc:sldChg chg="addSp delSp modSp mod">
        <pc:chgData name="Manley, Grant" userId="0895639d-7fad-4c05-ab8d-5a440f8e67f7" providerId="ADAL" clId="{D1D781B7-4C02-4565-8C6D-3B360B437974}" dt="2026-10-17T01:19:42.928" v="8277" actId="1038"/>
        <pc:sldMkLst>
          <pc:docMk/>
          <pc:sldMk cId="0" sldId="267"/>
        </pc:sldMkLst>
        <pc:spChg chg="add mod">
          <ac:chgData name="Manley, Grant" userId="0895639d-7fad-4c05-ab8d-5a440f8e67f7" providerId="ADAL" clId="{D1D781B7-4C02-4565-8C6D-3B360B437974}" dt="2026-10-16T21:55:01.358" v="8156" actId="1076"/>
          <ac:spMkLst>
            <pc:docMk/>
            <pc:sldMk cId="0" sldId="267"/>
            <ac:spMk id="6" creationId="{55257E44-DD3E-4E8F-D779-CF723B11DD85}"/>
          </ac:spMkLst>
        </pc:spChg>
        <pc:graphicFrameChg chg="add mod modGraphic">
          <ac:chgData name="Manley, Grant" userId="0895639d-7fad-4c05-ab8d-5a440f8e67f7" providerId="ADAL" clId="{D1D781B7-4C02-4565-8C6D-3B360B437974}" dt="2026-10-16T21:43:06.752" v="7459" actId="1076"/>
          <ac:graphicFrameMkLst>
            <pc:docMk/>
            <pc:sldMk cId="0" sldId="267"/>
            <ac:graphicFrameMk id="5" creationId="{7764F17F-C47C-1B1C-B94E-5F6CE51F9B16}"/>
          </ac:graphicFrameMkLst>
        </pc:graphicFrameChg>
        <pc:picChg chg="mod">
          <ac:chgData name="Manley, Grant" userId="0895639d-7fad-4c05-ab8d-5a440f8e67f7" providerId="ADAL" clId="{D1D781B7-4C02-4565-8C6D-3B360B437974}" dt="2026-10-17T01:19:42.928" v="8277" actId="1038"/>
          <ac:picMkLst>
            <pc:docMk/>
            <pc:sldMk cId="0" sldId="267"/>
            <ac:picMk id="2" creationId="{A945332A-5B9D-A159-2C39-32EE8CAA9325}"/>
          </ac:picMkLst>
        </pc:picChg>
      </pc:sldChg>
      <pc:sldChg chg="addSp delSp modSp mod">
        <pc:chgData name="Manley, Grant" userId="0895639d-7fad-4c05-ab8d-5a440f8e67f7" providerId="ADAL" clId="{D1D781B7-4C02-4565-8C6D-3B360B437974}" dt="2026-10-17T01:19:49.335" v="8281" actId="1036"/>
        <pc:sldMkLst>
          <pc:docMk/>
          <pc:sldMk cId="0" sldId="268"/>
        </pc:sldMkLst>
        <pc:spChg chg="add mod">
          <ac:chgData name="Manley, Grant" userId="0895639d-7fad-4c05-ab8d-5a440f8e67f7" providerId="ADAL" clId="{D1D781B7-4C02-4565-8C6D-3B360B437974}" dt="2026-10-16T21:55:26.832" v="8160" actId="1076"/>
          <ac:spMkLst>
            <pc:docMk/>
            <pc:sldMk cId="0" sldId="268"/>
            <ac:spMk id="4" creationId="{9177DDEB-E4A5-73BB-5B2E-4870FB9F4F37}"/>
          </ac:spMkLst>
        </pc:spChg>
        <pc:spChg chg="mod">
          <ac:chgData name="Manley, Grant" userId="0895639d-7fad-4c05-ab8d-5a440f8e67f7" providerId="ADAL" clId="{D1D781B7-4C02-4565-8C6D-3B360B437974}" dt="2026-10-16T21:46:26.235" v="8041" actId="1035"/>
          <ac:spMkLst>
            <pc:docMk/>
            <pc:sldMk cId="0" sldId="268"/>
            <ac:spMk id="231" creationId="{00000000-0000-0000-0000-000000000000}"/>
          </ac:spMkLst>
        </pc:spChg>
        <pc:graphicFrameChg chg="add mod modGraphic">
          <ac:chgData name="Manley, Grant" userId="0895639d-7fad-4c05-ab8d-5a440f8e67f7" providerId="ADAL" clId="{D1D781B7-4C02-4565-8C6D-3B360B437974}" dt="2026-10-16T21:58:00.516" v="8164" actId="20577"/>
          <ac:graphicFrameMkLst>
            <pc:docMk/>
            <pc:sldMk cId="0" sldId="268"/>
            <ac:graphicFrameMk id="3" creationId="{91F69036-9418-3200-92B8-1794EC571E44}"/>
          </ac:graphicFrameMkLst>
        </pc:graphicFrameChg>
        <pc:picChg chg="mod">
          <ac:chgData name="Manley, Grant" userId="0895639d-7fad-4c05-ab8d-5a440f8e67f7" providerId="ADAL" clId="{D1D781B7-4C02-4565-8C6D-3B360B437974}" dt="2026-10-17T01:19:49.335" v="8281" actId="1036"/>
          <ac:picMkLst>
            <pc:docMk/>
            <pc:sldMk cId="0" sldId="268"/>
            <ac:picMk id="2" creationId="{32829455-5B61-1AE5-FCBE-15D4AA347D56}"/>
          </ac:picMkLst>
        </pc:picChg>
      </pc:sldChg>
      <pc:sldChg chg="modSp mod">
        <pc:chgData name="Manley, Grant" userId="0895639d-7fad-4c05-ab8d-5a440f8e67f7" providerId="ADAL" clId="{D1D781B7-4C02-4565-8C6D-3B360B437974}" dt="2026-10-17T01:20:00.869" v="8287" actId="1037"/>
        <pc:sldMkLst>
          <pc:docMk/>
          <pc:sldMk cId="0" sldId="269"/>
        </pc:sldMkLst>
        <pc:spChg chg="mod">
          <ac:chgData name="Manley, Grant" userId="0895639d-7fad-4c05-ab8d-5a440f8e67f7" providerId="ADAL" clId="{D1D781B7-4C02-4565-8C6D-3B360B437974}" dt="2026-10-16T21:58:16.831" v="8165" actId="20577"/>
          <ac:spMkLst>
            <pc:docMk/>
            <pc:sldMk cId="0" sldId="269"/>
            <ac:spMk id="238" creationId="{00000000-0000-0000-0000-000000000000}"/>
          </ac:spMkLst>
        </pc:spChg>
        <pc:picChg chg="mod">
          <ac:chgData name="Manley, Grant" userId="0895639d-7fad-4c05-ab8d-5a440f8e67f7" providerId="ADAL" clId="{D1D781B7-4C02-4565-8C6D-3B360B437974}" dt="2026-10-17T01:20:00.869" v="8287" actId="1037"/>
          <ac:picMkLst>
            <pc:docMk/>
            <pc:sldMk cId="0" sldId="269"/>
            <ac:picMk id="2" creationId="{CE85C180-ED20-503B-3A52-E76F0FDF4873}"/>
          </ac:picMkLst>
        </pc:picChg>
      </pc:sldChg>
      <pc:sldChg chg="addSp delSp modSp add mod">
        <pc:chgData name="Manley, Grant" userId="0895639d-7fad-4c05-ab8d-5a440f8e67f7" providerId="ADAL" clId="{D1D781B7-4C02-4565-8C6D-3B360B437974}" dt="2026-10-17T01:17:29.769" v="8190" actId="1076"/>
        <pc:sldMkLst>
          <pc:docMk/>
          <pc:sldMk cId="385991009" sldId="270"/>
        </pc:sldMkLst>
        <pc:spChg chg="mod">
          <ac:chgData name="Manley, Grant" userId="0895639d-7fad-4c05-ab8d-5a440f8e67f7" providerId="ADAL" clId="{D1D781B7-4C02-4565-8C6D-3B360B437974}" dt="2026-10-16T20:52:49.419" v="3767" actId="20577"/>
          <ac:spMkLst>
            <pc:docMk/>
            <pc:sldMk cId="385991009" sldId="270"/>
            <ac:spMk id="5" creationId="{D60BBB84-B1B6-DEA5-1BC0-A59613F6C818}"/>
          </ac:spMkLst>
        </pc:spChg>
        <pc:picChg chg="mod">
          <ac:chgData name="Manley, Grant" userId="0895639d-7fad-4c05-ab8d-5a440f8e67f7" providerId="ADAL" clId="{D1D781B7-4C02-4565-8C6D-3B360B437974}" dt="2026-10-17T01:17:29.769" v="8190" actId="1076"/>
          <ac:picMkLst>
            <pc:docMk/>
            <pc:sldMk cId="385991009" sldId="270"/>
            <ac:picMk id="2" creationId="{FBC71CD2-45FF-7D24-EFA1-7A4E27F539A7}"/>
          </ac:picMkLst>
        </pc:picChg>
        <pc:picChg chg="add mod">
          <ac:chgData name="Manley, Grant" userId="0895639d-7fad-4c05-ab8d-5a440f8e67f7" providerId="ADAL" clId="{D1D781B7-4C02-4565-8C6D-3B360B437974}" dt="2026-10-16T20:41:25.926" v="3133" actId="1076"/>
          <ac:picMkLst>
            <pc:docMk/>
            <pc:sldMk cId="385991009" sldId="270"/>
            <ac:picMk id="3" creationId="{9D1CCDDB-2144-31DF-7A26-F75600D34E63}"/>
          </ac:picMkLst>
        </pc:picChg>
      </pc:sldChg>
      <pc:sldChg chg="addSp delSp modSp add mod">
        <pc:chgData name="Manley, Grant" userId="0895639d-7fad-4c05-ab8d-5a440f8e67f7" providerId="ADAL" clId="{D1D781B7-4C02-4565-8C6D-3B360B437974}" dt="2026-10-17T01:17:20.655" v="8189" actId="1037"/>
        <pc:sldMkLst>
          <pc:docMk/>
          <pc:sldMk cId="1483132112" sldId="271"/>
        </pc:sldMkLst>
        <pc:spChg chg="mod">
          <ac:chgData name="Manley, Grant" userId="0895639d-7fad-4c05-ab8d-5a440f8e67f7" providerId="ADAL" clId="{D1D781B7-4C02-4565-8C6D-3B360B437974}" dt="2026-10-16T20:52:41.402" v="3761" actId="20577"/>
          <ac:spMkLst>
            <pc:docMk/>
            <pc:sldMk cId="1483132112" sldId="271"/>
            <ac:spMk id="5" creationId="{04478C18-17EE-E7A1-BD9D-DEC00941D069}"/>
          </ac:spMkLst>
        </pc:spChg>
        <pc:picChg chg="mod">
          <ac:chgData name="Manley, Grant" userId="0895639d-7fad-4c05-ab8d-5a440f8e67f7" providerId="ADAL" clId="{D1D781B7-4C02-4565-8C6D-3B360B437974}" dt="2026-10-17T01:17:20.655" v="8189" actId="1037"/>
          <ac:picMkLst>
            <pc:docMk/>
            <pc:sldMk cId="1483132112" sldId="271"/>
            <ac:picMk id="2" creationId="{8BC8E58E-7CE9-A32D-A02E-5C2E34728456}"/>
          </ac:picMkLst>
        </pc:picChg>
        <pc:picChg chg="add mod">
          <ac:chgData name="Manley, Grant" userId="0895639d-7fad-4c05-ab8d-5a440f8e67f7" providerId="ADAL" clId="{D1D781B7-4C02-4565-8C6D-3B360B437974}" dt="2026-10-16T20:47:59.862" v="3597" actId="1076"/>
          <ac:picMkLst>
            <pc:docMk/>
            <pc:sldMk cId="1483132112" sldId="271"/>
            <ac:picMk id="3" creationId="{5EBB4CF2-F62B-5E2F-C64E-C648370DA64A}"/>
          </ac:picMkLst>
        </pc:picChg>
      </pc:sldChg>
      <pc:sldChg chg="addSp delSp modSp add mod">
        <pc:chgData name="Manley, Grant" userId="0895639d-7fad-4c05-ab8d-5a440f8e67f7" providerId="ADAL" clId="{D1D781B7-4C02-4565-8C6D-3B360B437974}" dt="2026-10-17T01:18:57.883" v="8233" actId="1036"/>
        <pc:sldMkLst>
          <pc:docMk/>
          <pc:sldMk cId="4249540097" sldId="272"/>
        </pc:sldMkLst>
        <pc:spChg chg="mod">
          <ac:chgData name="Manley, Grant" userId="0895639d-7fad-4c05-ab8d-5a440f8e67f7" providerId="ADAL" clId="{D1D781B7-4C02-4565-8C6D-3B360B437974}" dt="2026-10-16T20:54:25.346" v="4097" actId="1035"/>
          <ac:spMkLst>
            <pc:docMk/>
            <pc:sldMk cId="4249540097" sldId="272"/>
            <ac:spMk id="5" creationId="{B2EEBE3F-F3A2-880A-16B5-7527246AD98A}"/>
          </ac:spMkLst>
        </pc:spChg>
        <pc:picChg chg="mod">
          <ac:chgData name="Manley, Grant" userId="0895639d-7fad-4c05-ab8d-5a440f8e67f7" providerId="ADAL" clId="{D1D781B7-4C02-4565-8C6D-3B360B437974}" dt="2026-10-17T01:18:57.883" v="8233" actId="1036"/>
          <ac:picMkLst>
            <pc:docMk/>
            <pc:sldMk cId="4249540097" sldId="272"/>
            <ac:picMk id="2" creationId="{9F1BEBDA-F546-DC80-ACFA-59DFF9BB6934}"/>
          </ac:picMkLst>
        </pc:picChg>
        <pc:picChg chg="add mod">
          <ac:chgData name="Manley, Grant" userId="0895639d-7fad-4c05-ab8d-5a440f8e67f7" providerId="ADAL" clId="{D1D781B7-4C02-4565-8C6D-3B360B437974}" dt="2026-10-16T20:55:08.764" v="4103" actId="1076"/>
          <ac:picMkLst>
            <pc:docMk/>
            <pc:sldMk cId="4249540097" sldId="272"/>
            <ac:picMk id="3" creationId="{464C6394-2575-C997-D4D6-1E658DD389E8}"/>
          </ac:picMkLst>
        </pc:picChg>
      </pc:sldChg>
      <pc:sldChg chg="addSp delSp modSp add mod">
        <pc:chgData name="Manley, Grant" userId="0895639d-7fad-4c05-ab8d-5a440f8e67f7" providerId="ADAL" clId="{D1D781B7-4C02-4565-8C6D-3B360B437974}" dt="2026-10-17T01:19:04.648" v="8239" actId="1035"/>
        <pc:sldMkLst>
          <pc:docMk/>
          <pc:sldMk cId="3182238993" sldId="273"/>
        </pc:sldMkLst>
        <pc:spChg chg="mod">
          <ac:chgData name="Manley, Grant" userId="0895639d-7fad-4c05-ab8d-5a440f8e67f7" providerId="ADAL" clId="{D1D781B7-4C02-4565-8C6D-3B360B437974}" dt="2026-10-16T20:58:20.305" v="4621" actId="1036"/>
          <ac:spMkLst>
            <pc:docMk/>
            <pc:sldMk cId="3182238993" sldId="273"/>
            <ac:spMk id="5" creationId="{CB2246B2-5BEC-26A8-0C7A-14D107D8EE60}"/>
          </ac:spMkLst>
        </pc:spChg>
        <pc:picChg chg="mod">
          <ac:chgData name="Manley, Grant" userId="0895639d-7fad-4c05-ab8d-5a440f8e67f7" providerId="ADAL" clId="{D1D781B7-4C02-4565-8C6D-3B360B437974}" dt="2026-10-17T01:19:04.648" v="8239" actId="1035"/>
          <ac:picMkLst>
            <pc:docMk/>
            <pc:sldMk cId="3182238993" sldId="273"/>
            <ac:picMk id="2" creationId="{E1F83D86-BD12-30B3-D819-63D0F6BDA06E}"/>
          </ac:picMkLst>
        </pc:picChg>
        <pc:picChg chg="add mod">
          <ac:chgData name="Manley, Grant" userId="0895639d-7fad-4c05-ab8d-5a440f8e67f7" providerId="ADAL" clId="{D1D781B7-4C02-4565-8C6D-3B360B437974}" dt="2026-10-16T21:03:27.408" v="4627" actId="1076"/>
          <ac:picMkLst>
            <pc:docMk/>
            <pc:sldMk cId="3182238993" sldId="273"/>
            <ac:picMk id="3" creationId="{CA16577C-2DA2-C263-7AF4-1C6BC1657F37}"/>
          </ac:picMkLst>
        </pc:picChg>
      </pc:sldChg>
      <pc:sldChg chg="addSp delSp modSp add mod">
        <pc:chgData name="Manley, Grant" userId="0895639d-7fad-4c05-ab8d-5a440f8e67f7" providerId="ADAL" clId="{D1D781B7-4C02-4565-8C6D-3B360B437974}" dt="2026-10-17T01:19:13.760" v="8250" actId="1037"/>
        <pc:sldMkLst>
          <pc:docMk/>
          <pc:sldMk cId="3629027450" sldId="274"/>
        </pc:sldMkLst>
        <pc:spChg chg="mod">
          <ac:chgData name="Manley, Grant" userId="0895639d-7fad-4c05-ab8d-5a440f8e67f7" providerId="ADAL" clId="{D1D781B7-4C02-4565-8C6D-3B360B437974}" dt="2026-10-16T21:05:59.740" v="5079" actId="1035"/>
          <ac:spMkLst>
            <pc:docMk/>
            <pc:sldMk cId="3629027450" sldId="274"/>
            <ac:spMk id="5" creationId="{539B45EF-5310-CEBF-D43F-33B718323409}"/>
          </ac:spMkLst>
        </pc:spChg>
        <pc:picChg chg="mod">
          <ac:chgData name="Manley, Grant" userId="0895639d-7fad-4c05-ab8d-5a440f8e67f7" providerId="ADAL" clId="{D1D781B7-4C02-4565-8C6D-3B360B437974}" dt="2026-10-17T01:19:13.760" v="8250" actId="1037"/>
          <ac:picMkLst>
            <pc:docMk/>
            <pc:sldMk cId="3629027450" sldId="274"/>
            <ac:picMk id="2" creationId="{CEA59DA7-BF71-6E57-0F10-49F49C9D9C74}"/>
          </ac:picMkLst>
        </pc:picChg>
        <pc:picChg chg="add mod">
          <ac:chgData name="Manley, Grant" userId="0895639d-7fad-4c05-ab8d-5a440f8e67f7" providerId="ADAL" clId="{D1D781B7-4C02-4565-8C6D-3B360B437974}" dt="2026-10-16T21:06:36.662" v="5084" actId="1038"/>
          <ac:picMkLst>
            <pc:docMk/>
            <pc:sldMk cId="3629027450" sldId="274"/>
            <ac:picMk id="3" creationId="{4F84F145-A76E-2D0F-4F1A-18441204554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As projects and development teams grow, the need for consistent implementation of security practices throughout the software development lifecycle is important. Setting universal standards and expectations for input validation, handling memory, authentication, authorization, and testing will promote consistent security practices across all areas of development. Our principles and standards establish multiple layers of prevention, detection, and mitigation supporting a defense-in-depth strategy the strengthens security and builds client trust.</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An example of this strategy is the team’s consistent usage of STD-004-CPP which is the sanitization of data passed to complex subsystems. Through consistent usage of parameterized queries, we can prevent untrusted values from being mishandled and interpreted as SQL instructions. By implementing restrictive least-privilege databases we limit the database operations an account can perform, reducing potential damage if an account or application is compromised. Additionally, through security logging of users and database activity we can identify suspicious activity in detail and support investigation and incident response.</a:t>
            </a: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As you can see on this slide we’ve identified six coding standards to be of priority, with only two falling into each of the likely and unlikely categories. Starting in the bottom right corner we have two principles classified as high priority yet unlikely, STD-006-CPP (Understand the termination behavior of assert() and abort(), and STD-010-CPP (Do not use std::rand() for generating pseudorandom numbers (MSC50-CPP). </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STD-006-CPP explanation/summary: Assertions when properly used detect violations of assumptions and can highlight programming errors. Assertions should not be used as validation for runtime inputs, and instead more thorough validation techniques should be in place. Since assertions can be disabled, validation critical to the software’s security should not be operated by an assert().</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STD-010-CPP explanation/summary: Using std::rand() for randomization of numerical values has a lower quality and higher predictability of generated values than the &lt;random&gt; library which has a separate engine for value distribution based on the input range.</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In the top left corner of the matrix, we have classified STD-007-CPP, handle all exceptions (ERR51-CPP), and STD-009-CPP, Close files when they are no longer needed (FIO51-CPP), both as likely and medium priority.</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STD-007-CPP explanation/summary: Proper handling of errors and exceptions allows detection of abnormal conditions and allows engineers to signify how the program will handle them. If exception handling is not in place, programs will behave unexpectedly and lead to crashes and termination. Expected exceptions that may occur require the appropriate handling, and often a try/catch statement will provide the necessary capability.</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STD-009-CPP explanation/summary: Opening files allocate resources and therefore should be closed when they are no longer in use. This practice will prevent unnecessary resource drain and ensure file buffers are properly flushed.</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Our largest matrix grouping is high priority and very likely. We’ll address these one at a time starting with:</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STD-001-CPP explanation/summary: Ensure that unsigned integer operations do not wrap (INT30-C). Unsigned integers have a fixed range which cannot represent negative numerical values less than zero or greater than the data type’s maximum. Exceeding either of these will result in wrapping, for instance if the value is less than zero, it will wrap to the maximum value and continue decreasing from there, causing unexpected behavior within the program.</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STD-002-CPP explanation/summary: Detect errors when converting a string to a number (ERR34-C). When extracting and converting values from string objects, checking for errors will prevent invalid or mismatched data from being accepted and causing unexpected behavior. Validation must be in place to check for acceptable data types and ensure proper conversion is being executed within the range of the container object’s data type.</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STD-003-CPP explanation/summary: Guarantee that storage for strings has sufficient space for character data and the null terminator (STR50-CPP). C-style strings must be stored into character arrays and require room for a null terminator ‘\0’ at the end. If string size versus allocated buffer/array size is not checked, buffer overflow can occur leading to unexpected behavior, corrupted data, overwritten memory, and other errors.</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STD-004-CPP explanation/summary: Sanitize data passed to complex subsystems (STR02-C). Input often comes through untrusted sources, and appropriate validation handling should be in place based on the subsystem in use. In the case of SQL databases user input values should be properly separated from actual SQL syntax by use of parameterized statements so user input data is not interpreted as an SQL command opening the door to SQL injection and malicious or unexpected behavior.</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STD-005-CPP explanation/summary: Do not access freed memory (MEM50-CPP). Dynamically allocated memory through usage of pointers must be released, modern C++ smart pointers provide this functionality automatically. After the memory is deallocated, the object stored at said address is no longer valid or accessible. Pointers for memory that have been deallocated create dangling pointers and can lead to exploitable vulnerabilities.</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STD-008- explanation/summary: Do not read uninitialized memory (EXP53-CPP). Attempting to access an object or variable that has not been assigned any value can lead to unexpected behavior. Variables should be initialized with a meaningful value before any further code attempts to access them. </a:t>
            </a: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99959AEB-94B3-27E1-4866-529A486FE4EC}"/>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4283EAF2-BE63-2591-FB40-64D07F0753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328E7471-D042-5428-B5DE-BB3840EAF3C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13132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9D78D3C-7148-FD4E-3E1D-217EB4B00489}"/>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CEE823A0-2FA8-F711-256F-87852DA6F9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5ED4D92B-5E6B-B563-F30D-D5F89B4AA2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18882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45EB4C53-54CD-E55D-E91D-ADBA9835EBEA}"/>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470854F-379A-A847-7636-55B650C2F2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A079BE74-5443-6DCA-9A75-A46C78CD02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40374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960E15D1-AA93-41D8-95A4-0B497E607461}"/>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5E234F8B-EBED-8D4E-1F79-DFC652C3F2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C0F61747-F967-E411-F06A-313DCD842A5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692406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BB67EB5C-C049-5E70-0CEF-9BC7E583B977}"/>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B26F1071-40A6-1983-A6C0-D1B166790E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76853373-3FAE-7264-E014-7A6130FA0B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44792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4.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4a"/><Relationship Id="rId7" Type="http://schemas.openxmlformats.org/officeDocument/2006/relationships/image" Target="../media/image6.pn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4.png"/><Relationship Id="rId2" Type="http://schemas.microsoft.com/office/2007/relationships/media" Target="../media/media3.m4a"/><Relationship Id="rId1" Type="http://schemas.openxmlformats.org/officeDocument/2006/relationships/tags" Target="../tags/tag4.xml"/><Relationship Id="rId6" Type="http://schemas.openxmlformats.org/officeDocument/2006/relationships/image" Target="../media/image6.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7" Type="http://schemas.openxmlformats.org/officeDocument/2006/relationships/image" Target="../media/image4.png"/><Relationship Id="rId2" Type="http://schemas.microsoft.com/office/2007/relationships/media" Target="../media/media4.m4a"/><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4.png"/><Relationship Id="rId2" Type="http://schemas.microsoft.com/office/2007/relationships/media" Target="../media/media5.m4a"/><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4.png"/><Relationship Id="rId2" Type="http://schemas.microsoft.com/office/2007/relationships/media" Target="../media/media6.m4a"/><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4.png"/><Relationship Id="rId2" Type="http://schemas.microsoft.com/office/2007/relationships/media" Target="../media/media7.m4a"/><Relationship Id="rId1" Type="http://schemas.openxmlformats.org/officeDocument/2006/relationships/tags" Target="../tags/tag8.xml"/><Relationship Id="rId6" Type="http://schemas.openxmlformats.org/officeDocument/2006/relationships/image" Target="../media/image6.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8.m4a"/><Relationship Id="rId7" Type="http://schemas.openxmlformats.org/officeDocument/2006/relationships/image" Target="../media/image7.png"/><Relationship Id="rId2" Type="http://schemas.microsoft.com/office/2007/relationships/media" Target="../media/media8.m4a"/><Relationship Id="rId1" Type="http://schemas.openxmlformats.org/officeDocument/2006/relationships/tags" Target="../tags/tag9.xml"/><Relationship Id="rId6" Type="http://schemas.openxmlformats.org/officeDocument/2006/relationships/image" Target="../media/image6.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9.m4a"/><Relationship Id="rId7" Type="http://schemas.openxmlformats.org/officeDocument/2006/relationships/image" Target="../media/image8.png"/><Relationship Id="rId2" Type="http://schemas.microsoft.com/office/2007/relationships/media" Target="../media/media9.m4a"/><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0.m4a"/><Relationship Id="rId7" Type="http://schemas.openxmlformats.org/officeDocument/2006/relationships/image" Target="../media/image9.png"/><Relationship Id="rId2" Type="http://schemas.microsoft.com/office/2007/relationships/media" Target="../media/media10.m4a"/><Relationship Id="rId1" Type="http://schemas.openxmlformats.org/officeDocument/2006/relationships/tags" Target="../tags/tag11.xml"/><Relationship Id="rId6" Type="http://schemas.openxmlformats.org/officeDocument/2006/relationships/image" Target="../media/image6.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1.m4a"/><Relationship Id="rId7" Type="http://schemas.openxmlformats.org/officeDocument/2006/relationships/image" Target="../media/image10.png"/><Relationship Id="rId2" Type="http://schemas.microsoft.com/office/2007/relationships/media" Target="../media/media11.m4a"/><Relationship Id="rId1" Type="http://schemas.openxmlformats.org/officeDocument/2006/relationships/tags" Target="../tags/tag12.xml"/><Relationship Id="rId6" Type="http://schemas.openxmlformats.org/officeDocument/2006/relationships/image" Target="../media/image6.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2.m4a"/><Relationship Id="rId7" Type="http://schemas.openxmlformats.org/officeDocument/2006/relationships/image" Target="../media/image11.png"/><Relationship Id="rId2" Type="http://schemas.microsoft.com/office/2007/relationships/media" Target="../media/media12.m4a"/><Relationship Id="rId1" Type="http://schemas.openxmlformats.org/officeDocument/2006/relationships/tags" Target="../tags/tag13.xml"/><Relationship Id="rId6" Type="http://schemas.openxmlformats.org/officeDocument/2006/relationships/image" Target="../media/image6.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3.m4a"/><Relationship Id="rId7" Type="http://schemas.openxmlformats.org/officeDocument/2006/relationships/image" Target="../media/image12.png"/><Relationship Id="rId2" Type="http://schemas.microsoft.com/office/2007/relationships/media" Target="../media/media13.m4a"/><Relationship Id="rId1" Type="http://schemas.openxmlformats.org/officeDocument/2006/relationships/tags" Target="../tags/tag14.xml"/><Relationship Id="rId6" Type="http://schemas.openxmlformats.org/officeDocument/2006/relationships/image" Target="../media/image6.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4.m4a"/><Relationship Id="rId7" Type="http://schemas.openxmlformats.org/officeDocument/2006/relationships/image" Target="../media/image6.png"/><Relationship Id="rId2" Type="http://schemas.microsoft.com/office/2007/relationships/media" Target="../media/media14.m4a"/><Relationship Id="rId1" Type="http://schemas.openxmlformats.org/officeDocument/2006/relationships/tags" Target="../tags/tag15.xml"/><Relationship Id="rId6" Type="http://schemas.openxmlformats.org/officeDocument/2006/relationships/image" Target="../media/image13.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media15.m4a"/><Relationship Id="rId7" Type="http://schemas.openxmlformats.org/officeDocument/2006/relationships/image" Target="../media/image4.png"/><Relationship Id="rId2" Type="http://schemas.microsoft.com/office/2007/relationships/media" Target="../media/media15.m4a"/><Relationship Id="rId1" Type="http://schemas.openxmlformats.org/officeDocument/2006/relationships/tags" Target="../tags/tag16.xml"/><Relationship Id="rId6" Type="http://schemas.openxmlformats.org/officeDocument/2006/relationships/image" Target="../media/image6.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media16.m4a"/><Relationship Id="rId7" Type="http://schemas.openxmlformats.org/officeDocument/2006/relationships/image" Target="../media/image4.png"/><Relationship Id="rId2" Type="http://schemas.microsoft.com/office/2007/relationships/media" Target="../media/media16.m4a"/><Relationship Id="rId1" Type="http://schemas.openxmlformats.org/officeDocument/2006/relationships/tags" Target="../tags/tag17.xml"/><Relationship Id="rId6" Type="http://schemas.openxmlformats.org/officeDocument/2006/relationships/image" Target="../media/image6.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audio" Target="../media/media17.m4a"/><Relationship Id="rId7" Type="http://schemas.openxmlformats.org/officeDocument/2006/relationships/image" Target="../media/image4.png"/><Relationship Id="rId2" Type="http://schemas.microsoft.com/office/2007/relationships/media" Target="../media/media17.m4a"/><Relationship Id="rId1" Type="http://schemas.openxmlformats.org/officeDocument/2006/relationships/tags" Target="../tags/tag18.xml"/><Relationship Id="rId6" Type="http://schemas.openxmlformats.org/officeDocument/2006/relationships/image" Target="../media/image6.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audio" Target="../media/media18.m4a"/><Relationship Id="rId7" Type="http://schemas.openxmlformats.org/officeDocument/2006/relationships/image" Target="../media/image4.png"/><Relationship Id="rId2" Type="http://schemas.microsoft.com/office/2007/relationships/media" Target="../media/media18.m4a"/><Relationship Id="rId1" Type="http://schemas.openxmlformats.org/officeDocument/2006/relationships/tags" Target="../tags/tag19.xml"/><Relationship Id="rId6" Type="http://schemas.openxmlformats.org/officeDocument/2006/relationships/image" Target="../media/image6.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audio" Target="../media/media19.m4a"/><Relationship Id="rId7" Type="http://schemas.openxmlformats.org/officeDocument/2006/relationships/image" Target="../media/image4.png"/><Relationship Id="rId2" Type="http://schemas.microsoft.com/office/2007/relationships/media" Target="../media/media19.m4a"/><Relationship Id="rId1" Type="http://schemas.openxmlformats.org/officeDocument/2006/relationships/tags" Target="../tags/tag20.xml"/><Relationship Id="rId6" Type="http://schemas.openxmlformats.org/officeDocument/2006/relationships/image" Target="../media/image6.png"/><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endParaRPr dirty="0"/>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Grant Manley</a:t>
            </a:r>
            <a:endParaRPr dirty="0"/>
          </a:p>
        </p:txBody>
      </p:sp>
      <p:pic>
        <p:nvPicPr>
          <p:cNvPr id="146" name="Google Shape;146;p1"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7440774" y="659854"/>
            <a:ext cx="2921424" cy="3786772"/>
          </a:xfrm>
          <a:prstGeom prst="rect">
            <a:avLst/>
          </a:prstGeom>
          <a:noFill/>
          <a:ln>
            <a:noFill/>
          </a:ln>
        </p:spPr>
      </p:pic>
      <p:pic>
        <p:nvPicPr>
          <p:cNvPr id="4" name="Slide 1">
            <a:hlinkClick r:id="" action="ppaction://media"/>
            <a:extLst>
              <a:ext uri="{FF2B5EF4-FFF2-40B4-BE49-F238E27FC236}">
                <a16:creationId xmlns:a16="http://schemas.microsoft.com/office/drawing/2014/main" id="{3DF76684-8890-60DD-A81A-F215D47E06E2}"/>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4864" y="36576"/>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318"/>
    </mc:Choice>
    <mc:Fallback xmlns="">
      <p:transition spd="slow" advTm="133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31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239152" y="2194560"/>
            <a:ext cx="7188591" cy="4024125"/>
          </a:xfrm>
          <a:prstGeom prst="rect">
            <a:avLst/>
          </a:prstGeom>
          <a:noFill/>
          <a:ln>
            <a:noFill/>
          </a:ln>
        </p:spPr>
        <p:txBody>
          <a:bodyPr spcFirstLastPara="1" wrap="square" lIns="91425" tIns="45700" rIns="91425" bIns="45700" anchor="t" anchorCtr="0">
            <a:normAutofit/>
          </a:bodyPr>
          <a:lstStyle/>
          <a:p>
            <a:pPr marL="1028700">
              <a:spcBef>
                <a:spcPts val="0"/>
              </a:spcBef>
            </a:pPr>
            <a:r>
              <a:rPr lang="en-US" dirty="0"/>
              <a:t>Company growth calls for standardization of security practices throughout the SDLC.</a:t>
            </a:r>
          </a:p>
          <a:p>
            <a:pPr marL="1028700">
              <a:spcBef>
                <a:spcPts val="0"/>
              </a:spcBef>
            </a:pPr>
            <a:r>
              <a:rPr lang="en-US" dirty="0"/>
              <a:t>Input validation, memory handling, authentication, authorization, testing and more require consistent implementation across all areas of development.</a:t>
            </a:r>
          </a:p>
          <a:p>
            <a:pPr marL="1028700">
              <a:spcBef>
                <a:spcPts val="0"/>
              </a:spcBef>
            </a:pPr>
            <a:r>
              <a:rPr lang="en-US" dirty="0"/>
              <a:t>Defense-in-depth depends on consistent implementation of security principles and controls.</a:t>
            </a:r>
          </a:p>
          <a:p>
            <a:pPr marL="1028700">
              <a:spcBef>
                <a:spcPts val="0"/>
              </a:spcBef>
            </a:pPr>
            <a:r>
              <a:rPr lang="en-US" dirty="0"/>
              <a:t>Establish multiple layers of prevention, detection, and mitigation.</a:t>
            </a:r>
          </a:p>
          <a:p>
            <a:pPr marL="1028700">
              <a:spcBef>
                <a:spcPts val="0"/>
              </a:spcBef>
            </a:pP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7139057" y="2217942"/>
            <a:ext cx="4367143" cy="2582658"/>
          </a:xfrm>
          <a:prstGeom prst="rect">
            <a:avLst/>
          </a:prstGeom>
          <a:noFill/>
          <a:ln>
            <a:noFill/>
          </a:ln>
        </p:spPr>
      </p:pic>
      <p:pic>
        <p:nvPicPr>
          <p:cNvPr id="154" name="Google Shape;154;p3" descr="Green Pace logo"/>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pic>
        <p:nvPicPr>
          <p:cNvPr id="3" name="Recorded Sound">
            <a:hlinkClick r:id="" action="ppaction://media"/>
            <a:extLst>
              <a:ext uri="{FF2B5EF4-FFF2-40B4-BE49-F238E27FC236}">
                <a16:creationId xmlns:a16="http://schemas.microsoft.com/office/drawing/2014/main" id="{6B417AE2-1846-F032-5743-C5893FC66069}"/>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73152" y="36576"/>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1238"/>
    </mc:Choice>
    <mc:Fallback xmlns="">
      <p:transition spd="slow" advTm="1012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123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graphicFrame>
        <p:nvGraphicFramePr>
          <p:cNvPr id="161" name="Google Shape;161;p4" descr="Alt text required"/>
          <p:cNvGraphicFramePr/>
          <p:nvPr>
            <p:extLst>
              <p:ext uri="{D42A27DB-BD31-4B8C-83A1-F6EECF244321}">
                <p14:modId xmlns:p14="http://schemas.microsoft.com/office/powerpoint/2010/main" val="4236442125"/>
              </p:ext>
            </p:extLst>
          </p:nvPr>
        </p:nvGraphicFramePr>
        <p:xfrm>
          <a:off x="2178387" y="2007852"/>
          <a:ext cx="7835225" cy="4085775"/>
        </p:xfrm>
        <a:graphic>
          <a:graphicData uri="http://schemas.openxmlformats.org/drawingml/2006/table">
            <a:tbl>
              <a:tblPr firstRow="1" firstCol="1">
                <a:noFill/>
                <a:tableStyleId>{802198C4-3087-4945-87E3-76CBB3509B7E}</a:tableStyleId>
              </a:tblPr>
              <a:tblGrid>
                <a:gridCol w="3948093">
                  <a:extLst>
                    <a:ext uri="{9D8B030D-6E8A-4147-A177-3AD203B41FA5}">
                      <a16:colId xmlns:a16="http://schemas.microsoft.com/office/drawing/2014/main" val="20000"/>
                    </a:ext>
                  </a:extLst>
                </a:gridCol>
                <a:gridCol w="3887132">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Likely</a:t>
                      </a:r>
                      <a:endParaRPr sz="20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STD-007-CPP</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STD-009-CPP</a:t>
                      </a:r>
                      <a:endParaRPr sz="20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Priority</a:t>
                      </a:r>
                      <a:endParaRPr sz="20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STD-001-CPP</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STD-002-CPP</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STD-003-CPP</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STD-004-CPP</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STD-005-CPP</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STD-008-CPP</a:t>
                      </a:r>
                      <a:endParaRPr sz="20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Low priority</a:t>
                      </a:r>
                      <a:endParaRPr sz="20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None Identified</a:t>
                      </a:r>
                      <a:endParaRPr sz="20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Unlikely</a:t>
                      </a:r>
                      <a:endParaRPr sz="20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STD-006-CPP</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STD-010-CPP</a:t>
                      </a:r>
                      <a:endParaRPr sz="20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pic>
        <p:nvPicPr>
          <p:cNvPr id="3" name="Slide 3">
            <a:hlinkClick r:id="" action="ppaction://media"/>
            <a:extLst>
              <a:ext uri="{FF2B5EF4-FFF2-40B4-BE49-F238E27FC236}">
                <a16:creationId xmlns:a16="http://schemas.microsoft.com/office/drawing/2014/main" id="{EE439843-EB59-C3BC-FD9C-A8F807030C80}"/>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4864" y="18288"/>
            <a:ext cx="589599" cy="60350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0872"/>
    </mc:Choice>
    <mc:Fallback xmlns="">
      <p:transition spd="slow" advTm="3108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087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200"/>
            </a:pPr>
            <a:r>
              <a:rPr lang="en-US" dirty="0"/>
              <a:t>Validate Input Data: STD-002, STD-003, STD-004</a:t>
            </a:r>
          </a:p>
          <a:p>
            <a:pPr marL="228600" indent="-228600">
              <a:spcBef>
                <a:spcPts val="0"/>
              </a:spcBef>
              <a:buSzPts val="2200"/>
            </a:pPr>
            <a:r>
              <a:rPr lang="en-US" dirty="0"/>
              <a:t>Heed Compiler Warnings: STD-001, STD-002, STD-008</a:t>
            </a:r>
          </a:p>
          <a:p>
            <a:pPr marL="228600" indent="-228600">
              <a:spcBef>
                <a:spcPts val="0"/>
              </a:spcBef>
              <a:buSzPts val="2200"/>
            </a:pPr>
            <a:r>
              <a:rPr lang="en-US" dirty="0"/>
              <a:t>Architect and Design for Security Policies: STD-003, STD-004, STD-005</a:t>
            </a:r>
          </a:p>
          <a:p>
            <a:pPr marL="228600" indent="-228600">
              <a:spcBef>
                <a:spcPts val="0"/>
              </a:spcBef>
              <a:buSzPts val="2200"/>
            </a:pPr>
            <a:r>
              <a:rPr lang="en-US" dirty="0"/>
              <a:t>Keep it Simple: STD-002, STD-007</a:t>
            </a:r>
          </a:p>
          <a:p>
            <a:pPr marL="228600" indent="-228600">
              <a:spcBef>
                <a:spcPts val="0"/>
              </a:spcBef>
              <a:buSzPts val="2200"/>
            </a:pPr>
            <a:r>
              <a:rPr lang="en-US" dirty="0"/>
              <a:t>Default Deny: STD-004, STD-005</a:t>
            </a:r>
          </a:p>
          <a:p>
            <a:pPr marL="228600" indent="-228600">
              <a:spcBef>
                <a:spcPts val="0"/>
              </a:spcBef>
              <a:buSzPts val="2200"/>
            </a:pPr>
            <a:r>
              <a:rPr lang="en-US" dirty="0"/>
              <a:t>Adhere to the Principle of Least Privilege: STD-004, STD-005</a:t>
            </a:r>
          </a:p>
          <a:p>
            <a:pPr marL="228600" indent="-228600">
              <a:spcBef>
                <a:spcPts val="0"/>
              </a:spcBef>
              <a:buSzPts val="2200"/>
            </a:pPr>
            <a:r>
              <a:rPr lang="en-US" dirty="0"/>
              <a:t>Sanitize Data Sent to Other Systems: STD-004</a:t>
            </a:r>
          </a:p>
          <a:p>
            <a:pPr marL="228600" indent="-228600">
              <a:spcBef>
                <a:spcPts val="0"/>
              </a:spcBef>
              <a:buSzPts val="2200"/>
            </a:pPr>
            <a:r>
              <a:rPr lang="en-US" dirty="0"/>
              <a:t>Practice Defense in Depth: STD-003, STD-004, STD-005, STD-008</a:t>
            </a:r>
          </a:p>
          <a:p>
            <a:pPr marL="228600" indent="-228600">
              <a:spcBef>
                <a:spcPts val="0"/>
              </a:spcBef>
              <a:buSzPts val="2200"/>
            </a:pPr>
            <a:r>
              <a:rPr lang="en-US" dirty="0"/>
              <a:t>Use Effective Quality Assurance Techniques: STD-001 – STD-010</a:t>
            </a:r>
          </a:p>
          <a:p>
            <a:pPr marL="228600" indent="-228600">
              <a:spcBef>
                <a:spcPts val="0"/>
              </a:spcBef>
              <a:buSzPts val="2200"/>
            </a:pPr>
            <a:r>
              <a:rPr lang="en-US" dirty="0"/>
              <a:t>Adopt a Secure Coding Standard: STD-001 – STD-010</a:t>
            </a:r>
            <a:endParaRPr dirty="0"/>
          </a:p>
        </p:txBody>
      </p:sp>
      <p:pic>
        <p:nvPicPr>
          <p:cNvPr id="169" name="Google Shape;169;p5"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pic>
        <p:nvPicPr>
          <p:cNvPr id="3" name="Slide 4">
            <a:hlinkClick r:id="" action="ppaction://media"/>
            <a:extLst>
              <a:ext uri="{FF2B5EF4-FFF2-40B4-BE49-F238E27FC236}">
                <a16:creationId xmlns:a16="http://schemas.microsoft.com/office/drawing/2014/main" id="{24092A31-A9F6-675D-8553-6D4CCFB5E6CF}"/>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76200" y="29715"/>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9608"/>
    </mc:Choice>
    <mc:Fallback xmlns="">
      <p:transition spd="slow" advTm="1396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960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solidFill>
                  <a:schemeClr val="bg1"/>
                </a:solidFill>
              </a:rPr>
              <a:t>CODING STANDARDS</a:t>
            </a:r>
            <a:endParaRPr>
              <a:solidFill>
                <a:schemeClr val="bg1"/>
              </a:solidFill>
            </a:endParaRPr>
          </a:p>
        </p:txBody>
      </p:sp>
      <p:pic>
        <p:nvPicPr>
          <p:cNvPr id="176" name="Google Shape;176;p6"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5A39B0F1-6821-E95C-FF4D-85F2A9F454C7}"/>
              </a:ext>
            </a:extLst>
          </p:cNvPr>
          <p:cNvGraphicFramePr>
            <a:graphicFrameLocks noGrp="1"/>
          </p:cNvGraphicFramePr>
          <p:nvPr>
            <p:extLst>
              <p:ext uri="{D42A27DB-BD31-4B8C-83A1-F6EECF244321}">
                <p14:modId xmlns:p14="http://schemas.microsoft.com/office/powerpoint/2010/main" val="105683417"/>
              </p:ext>
            </p:extLst>
          </p:nvPr>
        </p:nvGraphicFramePr>
        <p:xfrm>
          <a:off x="685800" y="2392526"/>
          <a:ext cx="10398276" cy="3368189"/>
        </p:xfrm>
        <a:graphic>
          <a:graphicData uri="http://schemas.openxmlformats.org/drawingml/2006/table">
            <a:tbl>
              <a:tblPr>
                <a:tableStyleId>{802198C4-3087-4945-87E3-76CBB3509B7E}</a:tableStyleId>
              </a:tblPr>
              <a:tblGrid>
                <a:gridCol w="1733046">
                  <a:extLst>
                    <a:ext uri="{9D8B030D-6E8A-4147-A177-3AD203B41FA5}">
                      <a16:colId xmlns:a16="http://schemas.microsoft.com/office/drawing/2014/main" val="1578250836"/>
                    </a:ext>
                  </a:extLst>
                </a:gridCol>
                <a:gridCol w="1733046">
                  <a:extLst>
                    <a:ext uri="{9D8B030D-6E8A-4147-A177-3AD203B41FA5}">
                      <a16:colId xmlns:a16="http://schemas.microsoft.com/office/drawing/2014/main" val="4132258087"/>
                    </a:ext>
                  </a:extLst>
                </a:gridCol>
                <a:gridCol w="1733046">
                  <a:extLst>
                    <a:ext uri="{9D8B030D-6E8A-4147-A177-3AD203B41FA5}">
                      <a16:colId xmlns:a16="http://schemas.microsoft.com/office/drawing/2014/main" val="3283242701"/>
                    </a:ext>
                  </a:extLst>
                </a:gridCol>
                <a:gridCol w="1733046">
                  <a:extLst>
                    <a:ext uri="{9D8B030D-6E8A-4147-A177-3AD203B41FA5}">
                      <a16:colId xmlns:a16="http://schemas.microsoft.com/office/drawing/2014/main" val="3050339197"/>
                    </a:ext>
                  </a:extLst>
                </a:gridCol>
                <a:gridCol w="1733046">
                  <a:extLst>
                    <a:ext uri="{9D8B030D-6E8A-4147-A177-3AD203B41FA5}">
                      <a16:colId xmlns:a16="http://schemas.microsoft.com/office/drawing/2014/main" val="2893404251"/>
                    </a:ext>
                  </a:extLst>
                </a:gridCol>
                <a:gridCol w="1733046">
                  <a:extLst>
                    <a:ext uri="{9D8B030D-6E8A-4147-A177-3AD203B41FA5}">
                      <a16:colId xmlns:a16="http://schemas.microsoft.com/office/drawing/2014/main" val="2872867835"/>
                    </a:ext>
                  </a:extLst>
                </a:gridCol>
              </a:tblGrid>
              <a:tr h="306199">
                <a:tc>
                  <a:txBody>
                    <a:bodyPr/>
                    <a:lstStyle/>
                    <a:p>
                      <a:pPr>
                        <a:buNone/>
                      </a:pPr>
                      <a:r>
                        <a:rPr lang="en-US" b="1" dirty="0">
                          <a:solidFill>
                            <a:schemeClr val="bg1"/>
                          </a:solidFill>
                          <a:latin typeface="Century Gothic" panose="020B0502020202020204" pitchFamily="34" charset="0"/>
                        </a:rPr>
                        <a:t>Standard</a:t>
                      </a:r>
                    </a:p>
                  </a:txBody>
                  <a:tcPr anchor="ctr"/>
                </a:tc>
                <a:tc>
                  <a:txBody>
                    <a:bodyPr/>
                    <a:lstStyle/>
                    <a:p>
                      <a:pPr>
                        <a:buNone/>
                      </a:pPr>
                      <a:r>
                        <a:rPr lang="en-US" b="1" dirty="0">
                          <a:solidFill>
                            <a:schemeClr val="bg1"/>
                          </a:solidFill>
                          <a:latin typeface="Century Gothic" panose="020B0502020202020204" pitchFamily="34" charset="0"/>
                        </a:rPr>
                        <a:t>Severity</a:t>
                      </a:r>
                    </a:p>
                  </a:txBody>
                  <a:tcPr anchor="ctr"/>
                </a:tc>
                <a:tc>
                  <a:txBody>
                    <a:bodyPr/>
                    <a:lstStyle/>
                    <a:p>
                      <a:pPr>
                        <a:buNone/>
                      </a:pPr>
                      <a:r>
                        <a:rPr lang="en-US" b="1" dirty="0">
                          <a:solidFill>
                            <a:schemeClr val="bg1"/>
                          </a:solidFill>
                          <a:latin typeface="Century Gothic" panose="020B0502020202020204" pitchFamily="34" charset="0"/>
                        </a:rPr>
                        <a:t>Likelihood</a:t>
                      </a:r>
                    </a:p>
                  </a:txBody>
                  <a:tcPr anchor="ctr"/>
                </a:tc>
                <a:tc>
                  <a:txBody>
                    <a:bodyPr/>
                    <a:lstStyle/>
                    <a:p>
                      <a:pPr>
                        <a:buNone/>
                      </a:pPr>
                      <a:r>
                        <a:rPr lang="en-US" b="1" dirty="0">
                          <a:solidFill>
                            <a:schemeClr val="bg1"/>
                          </a:solidFill>
                          <a:latin typeface="Century Gothic" panose="020B0502020202020204" pitchFamily="34" charset="0"/>
                        </a:rPr>
                        <a:t>Remediation Cost</a:t>
                      </a:r>
                    </a:p>
                  </a:txBody>
                  <a:tcPr anchor="ctr"/>
                </a:tc>
                <a:tc>
                  <a:txBody>
                    <a:bodyPr/>
                    <a:lstStyle/>
                    <a:p>
                      <a:pPr>
                        <a:buNone/>
                      </a:pPr>
                      <a:r>
                        <a:rPr lang="en-US" b="1" dirty="0">
                          <a:solidFill>
                            <a:schemeClr val="bg1"/>
                          </a:solidFill>
                          <a:latin typeface="Century Gothic" panose="020B0502020202020204" pitchFamily="34" charset="0"/>
                        </a:rPr>
                        <a:t>Priority</a:t>
                      </a:r>
                    </a:p>
                  </a:txBody>
                  <a:tcPr anchor="ctr"/>
                </a:tc>
                <a:tc>
                  <a:txBody>
                    <a:bodyPr/>
                    <a:lstStyle/>
                    <a:p>
                      <a:pPr>
                        <a:buNone/>
                      </a:pPr>
                      <a:r>
                        <a:rPr lang="en-US" b="1" dirty="0">
                          <a:solidFill>
                            <a:schemeClr val="bg1"/>
                          </a:solidFill>
                          <a:latin typeface="Century Gothic" panose="020B0502020202020204" pitchFamily="34" charset="0"/>
                        </a:rPr>
                        <a:t>Level</a:t>
                      </a:r>
                    </a:p>
                  </a:txBody>
                  <a:tcPr anchor="ctr"/>
                </a:tc>
                <a:extLst>
                  <a:ext uri="{0D108BD9-81ED-4DB2-BD59-A6C34878D82A}">
                    <a16:rowId xmlns:a16="http://schemas.microsoft.com/office/drawing/2014/main" val="1780000537"/>
                  </a:ext>
                </a:extLst>
              </a:tr>
              <a:tr h="306199">
                <a:tc>
                  <a:txBody>
                    <a:bodyPr/>
                    <a:lstStyle/>
                    <a:p>
                      <a:pPr>
                        <a:buNone/>
                      </a:pPr>
                      <a:r>
                        <a:rPr lang="en-US" dirty="0">
                          <a:solidFill>
                            <a:schemeClr val="bg1"/>
                          </a:solidFill>
                          <a:latin typeface="Century Gothic" panose="020B0502020202020204" pitchFamily="34" charset="0"/>
                        </a:rPr>
                        <a:t>STD-001</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Likely</a:t>
                      </a:r>
                    </a:p>
                  </a:txBody>
                  <a:tcPr anchor="ctr"/>
                </a:tc>
                <a:tc>
                  <a:txBody>
                    <a:bodyPr/>
                    <a:lstStyle/>
                    <a:p>
                      <a:pPr>
                        <a:buNone/>
                      </a:pPr>
                      <a:r>
                        <a:rPr lang="en-US">
                          <a:solidFill>
                            <a:schemeClr val="bg1"/>
                          </a:solidFill>
                          <a:latin typeface="Century Gothic" panose="020B0502020202020204" pitchFamily="34" charset="0"/>
                        </a:rPr>
                        <a:t>Low</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4</a:t>
                      </a:r>
                    </a:p>
                  </a:txBody>
                  <a:tcPr anchor="ctr"/>
                </a:tc>
                <a:extLst>
                  <a:ext uri="{0D108BD9-81ED-4DB2-BD59-A6C34878D82A}">
                    <a16:rowId xmlns:a16="http://schemas.microsoft.com/office/drawing/2014/main" val="3714968590"/>
                  </a:ext>
                </a:extLst>
              </a:tr>
              <a:tr h="306199">
                <a:tc>
                  <a:txBody>
                    <a:bodyPr/>
                    <a:lstStyle/>
                    <a:p>
                      <a:pPr>
                        <a:buNone/>
                      </a:pPr>
                      <a:r>
                        <a:rPr lang="en-US" dirty="0">
                          <a:solidFill>
                            <a:schemeClr val="bg1"/>
                          </a:solidFill>
                          <a:latin typeface="Century Gothic" panose="020B0502020202020204" pitchFamily="34" charset="0"/>
                        </a:rPr>
                        <a:t>STD-002</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Likely</a:t>
                      </a:r>
                    </a:p>
                  </a:txBody>
                  <a:tcPr anchor="ctr"/>
                </a:tc>
                <a:tc>
                  <a:txBody>
                    <a:bodyPr/>
                    <a:lstStyle/>
                    <a:p>
                      <a:pPr>
                        <a:buNone/>
                      </a:pPr>
                      <a:r>
                        <a:rPr lang="en-US">
                          <a:solidFill>
                            <a:schemeClr val="bg1"/>
                          </a:solidFill>
                          <a:latin typeface="Century Gothic" panose="020B0502020202020204" pitchFamily="34" charset="0"/>
                        </a:rPr>
                        <a:t>Low</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4</a:t>
                      </a:r>
                    </a:p>
                  </a:txBody>
                  <a:tcPr anchor="ctr"/>
                </a:tc>
                <a:extLst>
                  <a:ext uri="{0D108BD9-81ED-4DB2-BD59-A6C34878D82A}">
                    <a16:rowId xmlns:a16="http://schemas.microsoft.com/office/drawing/2014/main" val="1049384819"/>
                  </a:ext>
                </a:extLst>
              </a:tr>
              <a:tr h="306199">
                <a:tc>
                  <a:txBody>
                    <a:bodyPr/>
                    <a:lstStyle/>
                    <a:p>
                      <a:pPr>
                        <a:buNone/>
                      </a:pPr>
                      <a:r>
                        <a:rPr lang="en-US" dirty="0">
                          <a:solidFill>
                            <a:schemeClr val="bg1"/>
                          </a:solidFill>
                          <a:latin typeface="Century Gothic" panose="020B0502020202020204" pitchFamily="34" charset="0"/>
                        </a:rPr>
                        <a:t>STD-003</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Likely</a:t>
                      </a:r>
                    </a:p>
                  </a:txBody>
                  <a:tcPr anchor="ctr"/>
                </a:tc>
                <a:tc>
                  <a:txBody>
                    <a:bodyPr/>
                    <a:lstStyle/>
                    <a:p>
                      <a:pPr>
                        <a:buNone/>
                      </a:pPr>
                      <a:r>
                        <a:rPr lang="en-US">
                          <a:solidFill>
                            <a:schemeClr val="bg1"/>
                          </a:solidFill>
                          <a:latin typeface="Century Gothic" panose="020B0502020202020204" pitchFamily="34" charset="0"/>
                        </a:rPr>
                        <a:t>Medium</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5</a:t>
                      </a:r>
                    </a:p>
                  </a:txBody>
                  <a:tcPr anchor="ctr"/>
                </a:tc>
                <a:extLst>
                  <a:ext uri="{0D108BD9-81ED-4DB2-BD59-A6C34878D82A}">
                    <a16:rowId xmlns:a16="http://schemas.microsoft.com/office/drawing/2014/main" val="2606954585"/>
                  </a:ext>
                </a:extLst>
              </a:tr>
              <a:tr h="306199">
                <a:tc>
                  <a:txBody>
                    <a:bodyPr/>
                    <a:lstStyle/>
                    <a:p>
                      <a:pPr>
                        <a:buNone/>
                      </a:pPr>
                      <a:r>
                        <a:rPr lang="en-US">
                          <a:solidFill>
                            <a:schemeClr val="bg1"/>
                          </a:solidFill>
                          <a:latin typeface="Century Gothic" panose="020B0502020202020204" pitchFamily="34" charset="0"/>
                        </a:rPr>
                        <a:t>STD-004</a:t>
                      </a:r>
                    </a:p>
                  </a:txBody>
                  <a:tcPr anchor="ctr"/>
                </a:tc>
                <a:tc>
                  <a:txBody>
                    <a:bodyPr/>
                    <a:lstStyle/>
                    <a:p>
                      <a:pPr>
                        <a:buNone/>
                      </a:pPr>
                      <a:r>
                        <a:rPr lang="en-US" dirty="0">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Likely</a:t>
                      </a:r>
                    </a:p>
                  </a:txBody>
                  <a:tcPr anchor="ctr"/>
                </a:tc>
                <a:tc>
                  <a:txBody>
                    <a:bodyPr/>
                    <a:lstStyle/>
                    <a:p>
                      <a:pPr>
                        <a:buNone/>
                      </a:pPr>
                      <a:r>
                        <a:rPr lang="en-US">
                          <a:solidFill>
                            <a:schemeClr val="bg1"/>
                          </a:solidFill>
                          <a:latin typeface="Century Gothic" panose="020B0502020202020204" pitchFamily="34" charset="0"/>
                        </a:rPr>
                        <a:t>Medium</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5</a:t>
                      </a:r>
                    </a:p>
                  </a:txBody>
                  <a:tcPr anchor="ctr"/>
                </a:tc>
                <a:extLst>
                  <a:ext uri="{0D108BD9-81ED-4DB2-BD59-A6C34878D82A}">
                    <a16:rowId xmlns:a16="http://schemas.microsoft.com/office/drawing/2014/main" val="3590096128"/>
                  </a:ext>
                </a:extLst>
              </a:tr>
              <a:tr h="306199">
                <a:tc>
                  <a:txBody>
                    <a:bodyPr/>
                    <a:lstStyle/>
                    <a:p>
                      <a:pPr>
                        <a:buNone/>
                      </a:pPr>
                      <a:r>
                        <a:rPr lang="en-US">
                          <a:solidFill>
                            <a:schemeClr val="bg1"/>
                          </a:solidFill>
                          <a:latin typeface="Century Gothic" panose="020B0502020202020204" pitchFamily="34" charset="0"/>
                        </a:rPr>
                        <a:t>STD-005</a:t>
                      </a:r>
                    </a:p>
                  </a:txBody>
                  <a:tcPr anchor="ctr"/>
                </a:tc>
                <a:tc>
                  <a:txBody>
                    <a:bodyPr/>
                    <a:lstStyle/>
                    <a:p>
                      <a:pPr>
                        <a:buNone/>
                      </a:pPr>
                      <a:r>
                        <a:rPr lang="en-US" dirty="0">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Likely</a:t>
                      </a:r>
                    </a:p>
                  </a:txBody>
                  <a:tcPr anchor="ctr"/>
                </a:tc>
                <a:tc>
                  <a:txBody>
                    <a:bodyPr/>
                    <a:lstStyle/>
                    <a:p>
                      <a:pPr>
                        <a:buNone/>
                      </a:pPr>
                      <a:r>
                        <a:rPr lang="en-US">
                          <a:solidFill>
                            <a:schemeClr val="bg1"/>
                          </a:solidFill>
                          <a:latin typeface="Century Gothic" panose="020B0502020202020204" pitchFamily="34" charset="0"/>
                        </a:rPr>
                        <a:t>Medium</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5</a:t>
                      </a:r>
                    </a:p>
                  </a:txBody>
                  <a:tcPr anchor="ctr"/>
                </a:tc>
                <a:extLst>
                  <a:ext uri="{0D108BD9-81ED-4DB2-BD59-A6C34878D82A}">
                    <a16:rowId xmlns:a16="http://schemas.microsoft.com/office/drawing/2014/main" val="1140100440"/>
                  </a:ext>
                </a:extLst>
              </a:tr>
              <a:tr h="306199">
                <a:tc>
                  <a:txBody>
                    <a:bodyPr/>
                    <a:lstStyle/>
                    <a:p>
                      <a:pPr>
                        <a:buNone/>
                      </a:pPr>
                      <a:r>
                        <a:rPr lang="en-US">
                          <a:solidFill>
                            <a:schemeClr val="bg1"/>
                          </a:solidFill>
                          <a:latin typeface="Century Gothic" panose="020B0502020202020204" pitchFamily="34" charset="0"/>
                        </a:rPr>
                        <a:t>STD-006</a:t>
                      </a:r>
                    </a:p>
                  </a:txBody>
                  <a:tcPr anchor="ctr"/>
                </a:tc>
                <a:tc>
                  <a:txBody>
                    <a:bodyPr/>
                    <a:lstStyle/>
                    <a:p>
                      <a:pPr>
                        <a:buNone/>
                      </a:pPr>
                      <a:r>
                        <a:rPr lang="en-US" dirty="0">
                          <a:solidFill>
                            <a:schemeClr val="bg1"/>
                          </a:solidFill>
                          <a:latin typeface="Century Gothic" panose="020B0502020202020204" pitchFamily="34" charset="0"/>
                        </a:rPr>
                        <a:t>High</a:t>
                      </a:r>
                    </a:p>
                  </a:txBody>
                  <a:tcPr anchor="ctr"/>
                </a:tc>
                <a:tc>
                  <a:txBody>
                    <a:bodyPr/>
                    <a:lstStyle/>
                    <a:p>
                      <a:pPr>
                        <a:buNone/>
                      </a:pPr>
                      <a:r>
                        <a:rPr lang="en-US" dirty="0">
                          <a:solidFill>
                            <a:schemeClr val="bg1"/>
                          </a:solidFill>
                          <a:latin typeface="Century Gothic" panose="020B0502020202020204" pitchFamily="34" charset="0"/>
                        </a:rPr>
                        <a:t>Possible</a:t>
                      </a:r>
                    </a:p>
                  </a:txBody>
                  <a:tcPr anchor="ctr"/>
                </a:tc>
                <a:tc>
                  <a:txBody>
                    <a:bodyPr/>
                    <a:lstStyle/>
                    <a:p>
                      <a:pPr>
                        <a:buNone/>
                      </a:pPr>
                      <a:r>
                        <a:rPr lang="en-US">
                          <a:solidFill>
                            <a:schemeClr val="bg1"/>
                          </a:solidFill>
                          <a:latin typeface="Century Gothic" panose="020B0502020202020204" pitchFamily="34" charset="0"/>
                        </a:rPr>
                        <a:t>Low</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4</a:t>
                      </a:r>
                    </a:p>
                  </a:txBody>
                  <a:tcPr anchor="ctr"/>
                </a:tc>
                <a:extLst>
                  <a:ext uri="{0D108BD9-81ED-4DB2-BD59-A6C34878D82A}">
                    <a16:rowId xmlns:a16="http://schemas.microsoft.com/office/drawing/2014/main" val="2534234116"/>
                  </a:ext>
                </a:extLst>
              </a:tr>
              <a:tr h="306199">
                <a:tc>
                  <a:txBody>
                    <a:bodyPr/>
                    <a:lstStyle/>
                    <a:p>
                      <a:pPr>
                        <a:buNone/>
                      </a:pPr>
                      <a:r>
                        <a:rPr lang="en-US">
                          <a:solidFill>
                            <a:schemeClr val="bg1"/>
                          </a:solidFill>
                          <a:latin typeface="Century Gothic" panose="020B0502020202020204" pitchFamily="34" charset="0"/>
                        </a:rPr>
                        <a:t>STD-007</a:t>
                      </a:r>
                    </a:p>
                  </a:txBody>
                  <a:tcPr anchor="ctr"/>
                </a:tc>
                <a:tc>
                  <a:txBody>
                    <a:bodyPr/>
                    <a:lstStyle/>
                    <a:p>
                      <a:pPr>
                        <a:buNone/>
                      </a:pPr>
                      <a:r>
                        <a:rPr lang="en-US">
                          <a:solidFill>
                            <a:schemeClr val="bg1"/>
                          </a:solidFill>
                          <a:latin typeface="Century Gothic" panose="020B0502020202020204" pitchFamily="34" charset="0"/>
                        </a:rPr>
                        <a:t>Medium</a:t>
                      </a:r>
                    </a:p>
                  </a:txBody>
                  <a:tcPr anchor="ctr"/>
                </a:tc>
                <a:tc>
                  <a:txBody>
                    <a:bodyPr/>
                    <a:lstStyle/>
                    <a:p>
                      <a:pPr>
                        <a:buNone/>
                      </a:pPr>
                      <a:r>
                        <a:rPr lang="en-US" dirty="0">
                          <a:solidFill>
                            <a:schemeClr val="bg1"/>
                          </a:solidFill>
                          <a:latin typeface="Century Gothic" panose="020B0502020202020204" pitchFamily="34" charset="0"/>
                        </a:rPr>
                        <a:t>Likely</a:t>
                      </a:r>
                    </a:p>
                  </a:txBody>
                  <a:tcPr anchor="ctr"/>
                </a:tc>
                <a:tc>
                  <a:txBody>
                    <a:bodyPr/>
                    <a:lstStyle/>
                    <a:p>
                      <a:pPr>
                        <a:buNone/>
                      </a:pPr>
                      <a:r>
                        <a:rPr lang="en-US">
                          <a:solidFill>
                            <a:schemeClr val="bg1"/>
                          </a:solidFill>
                          <a:latin typeface="Century Gothic" panose="020B0502020202020204" pitchFamily="34" charset="0"/>
                        </a:rPr>
                        <a:t>Medium</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3</a:t>
                      </a:r>
                    </a:p>
                  </a:txBody>
                  <a:tcPr anchor="ctr"/>
                </a:tc>
                <a:extLst>
                  <a:ext uri="{0D108BD9-81ED-4DB2-BD59-A6C34878D82A}">
                    <a16:rowId xmlns:a16="http://schemas.microsoft.com/office/drawing/2014/main" val="3098327484"/>
                  </a:ext>
                </a:extLst>
              </a:tr>
              <a:tr h="306199">
                <a:tc>
                  <a:txBody>
                    <a:bodyPr/>
                    <a:lstStyle/>
                    <a:p>
                      <a:pPr>
                        <a:buNone/>
                      </a:pPr>
                      <a:r>
                        <a:rPr lang="en-US">
                          <a:solidFill>
                            <a:schemeClr val="bg1"/>
                          </a:solidFill>
                          <a:latin typeface="Century Gothic" panose="020B0502020202020204" pitchFamily="34" charset="0"/>
                        </a:rPr>
                        <a:t>STD-008</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dirty="0">
                          <a:solidFill>
                            <a:schemeClr val="bg1"/>
                          </a:solidFill>
                          <a:latin typeface="Century Gothic" panose="020B0502020202020204" pitchFamily="34" charset="0"/>
                        </a:rPr>
                        <a:t>Likely</a:t>
                      </a:r>
                    </a:p>
                  </a:txBody>
                  <a:tcPr anchor="ctr"/>
                </a:tc>
                <a:tc>
                  <a:txBody>
                    <a:bodyPr/>
                    <a:lstStyle/>
                    <a:p>
                      <a:pPr>
                        <a:buNone/>
                      </a:pPr>
                      <a:r>
                        <a:rPr lang="en-US" dirty="0">
                          <a:solidFill>
                            <a:schemeClr val="bg1"/>
                          </a:solidFill>
                          <a:latin typeface="Century Gothic" panose="020B0502020202020204" pitchFamily="34" charset="0"/>
                        </a:rPr>
                        <a:t>Low</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a:solidFill>
                            <a:schemeClr val="bg1"/>
                          </a:solidFill>
                          <a:latin typeface="Century Gothic" panose="020B0502020202020204" pitchFamily="34" charset="0"/>
                        </a:rPr>
                        <a:t>4</a:t>
                      </a:r>
                    </a:p>
                  </a:txBody>
                  <a:tcPr anchor="ctr"/>
                </a:tc>
                <a:extLst>
                  <a:ext uri="{0D108BD9-81ED-4DB2-BD59-A6C34878D82A}">
                    <a16:rowId xmlns:a16="http://schemas.microsoft.com/office/drawing/2014/main" val="481925974"/>
                  </a:ext>
                </a:extLst>
              </a:tr>
              <a:tr h="306199">
                <a:tc>
                  <a:txBody>
                    <a:bodyPr/>
                    <a:lstStyle/>
                    <a:p>
                      <a:pPr>
                        <a:buNone/>
                      </a:pPr>
                      <a:r>
                        <a:rPr lang="en-US">
                          <a:solidFill>
                            <a:schemeClr val="bg1"/>
                          </a:solidFill>
                          <a:latin typeface="Century Gothic" panose="020B0502020202020204" pitchFamily="34" charset="0"/>
                        </a:rPr>
                        <a:t>STD-009</a:t>
                      </a:r>
                    </a:p>
                  </a:txBody>
                  <a:tcPr anchor="ctr"/>
                </a:tc>
                <a:tc>
                  <a:txBody>
                    <a:bodyPr/>
                    <a:lstStyle/>
                    <a:p>
                      <a:pPr>
                        <a:buNone/>
                      </a:pPr>
                      <a:r>
                        <a:rPr lang="en-US">
                          <a:solidFill>
                            <a:schemeClr val="bg1"/>
                          </a:solidFill>
                          <a:latin typeface="Century Gothic" panose="020B0502020202020204" pitchFamily="34" charset="0"/>
                        </a:rPr>
                        <a:t>Medium</a:t>
                      </a:r>
                    </a:p>
                  </a:txBody>
                  <a:tcPr anchor="ctr"/>
                </a:tc>
                <a:tc>
                  <a:txBody>
                    <a:bodyPr/>
                    <a:lstStyle/>
                    <a:p>
                      <a:pPr>
                        <a:buNone/>
                      </a:pPr>
                      <a:r>
                        <a:rPr lang="en-US">
                          <a:solidFill>
                            <a:schemeClr val="bg1"/>
                          </a:solidFill>
                          <a:latin typeface="Century Gothic" panose="020B0502020202020204" pitchFamily="34" charset="0"/>
                        </a:rPr>
                        <a:t>Likely</a:t>
                      </a:r>
                    </a:p>
                  </a:txBody>
                  <a:tcPr anchor="ctr"/>
                </a:tc>
                <a:tc>
                  <a:txBody>
                    <a:bodyPr/>
                    <a:lstStyle/>
                    <a:p>
                      <a:pPr>
                        <a:buNone/>
                      </a:pPr>
                      <a:r>
                        <a:rPr lang="en-US" dirty="0">
                          <a:solidFill>
                            <a:schemeClr val="bg1"/>
                          </a:solidFill>
                          <a:latin typeface="Century Gothic" panose="020B0502020202020204" pitchFamily="34" charset="0"/>
                        </a:rPr>
                        <a:t>Low</a:t>
                      </a:r>
                    </a:p>
                  </a:txBody>
                  <a:tcPr anchor="ctr"/>
                </a:tc>
                <a:tc>
                  <a:txBody>
                    <a:bodyPr/>
                    <a:lstStyle/>
                    <a:p>
                      <a:pPr>
                        <a:buNone/>
                      </a:pPr>
                      <a:r>
                        <a:rPr lang="en-US">
                          <a:solidFill>
                            <a:schemeClr val="bg1"/>
                          </a:solidFill>
                          <a:latin typeface="Century Gothic" panose="020B0502020202020204" pitchFamily="34" charset="0"/>
                        </a:rPr>
                        <a:t>Medium</a:t>
                      </a:r>
                    </a:p>
                  </a:txBody>
                  <a:tcPr anchor="ctr"/>
                </a:tc>
                <a:tc>
                  <a:txBody>
                    <a:bodyPr/>
                    <a:lstStyle/>
                    <a:p>
                      <a:pPr>
                        <a:buNone/>
                      </a:pPr>
                      <a:r>
                        <a:rPr lang="en-US">
                          <a:solidFill>
                            <a:schemeClr val="bg1"/>
                          </a:solidFill>
                          <a:latin typeface="Century Gothic" panose="020B0502020202020204" pitchFamily="34" charset="0"/>
                        </a:rPr>
                        <a:t>3</a:t>
                      </a:r>
                    </a:p>
                  </a:txBody>
                  <a:tcPr anchor="ctr"/>
                </a:tc>
                <a:extLst>
                  <a:ext uri="{0D108BD9-81ED-4DB2-BD59-A6C34878D82A}">
                    <a16:rowId xmlns:a16="http://schemas.microsoft.com/office/drawing/2014/main" val="3611124469"/>
                  </a:ext>
                </a:extLst>
              </a:tr>
              <a:tr h="306199">
                <a:tc>
                  <a:txBody>
                    <a:bodyPr/>
                    <a:lstStyle/>
                    <a:p>
                      <a:pPr>
                        <a:buNone/>
                      </a:pPr>
                      <a:r>
                        <a:rPr lang="en-US">
                          <a:solidFill>
                            <a:schemeClr val="bg1"/>
                          </a:solidFill>
                          <a:latin typeface="Century Gothic" panose="020B0502020202020204" pitchFamily="34" charset="0"/>
                        </a:rPr>
                        <a:t>STD-010</a:t>
                      </a:r>
                    </a:p>
                  </a:txBody>
                  <a:tcPr anchor="ctr"/>
                </a:tc>
                <a:tc>
                  <a:txBody>
                    <a:bodyPr/>
                    <a:lstStyle/>
                    <a:p>
                      <a:pPr>
                        <a:buNone/>
                      </a:pPr>
                      <a:r>
                        <a:rPr lang="en-US">
                          <a:solidFill>
                            <a:schemeClr val="bg1"/>
                          </a:solidFill>
                          <a:latin typeface="Century Gothic" panose="020B0502020202020204" pitchFamily="34" charset="0"/>
                        </a:rPr>
                        <a:t>High</a:t>
                      </a:r>
                    </a:p>
                  </a:txBody>
                  <a:tcPr anchor="ctr"/>
                </a:tc>
                <a:tc>
                  <a:txBody>
                    <a:bodyPr/>
                    <a:lstStyle/>
                    <a:p>
                      <a:pPr>
                        <a:buNone/>
                      </a:pPr>
                      <a:r>
                        <a:rPr lang="en-US" dirty="0">
                          <a:solidFill>
                            <a:schemeClr val="bg1"/>
                          </a:solidFill>
                          <a:latin typeface="Century Gothic" panose="020B0502020202020204" pitchFamily="34" charset="0"/>
                        </a:rPr>
                        <a:t>Possible</a:t>
                      </a:r>
                    </a:p>
                  </a:txBody>
                  <a:tcPr anchor="ctr"/>
                </a:tc>
                <a:tc>
                  <a:txBody>
                    <a:bodyPr/>
                    <a:lstStyle/>
                    <a:p>
                      <a:pPr>
                        <a:buNone/>
                      </a:pPr>
                      <a:r>
                        <a:rPr lang="en-US" dirty="0">
                          <a:solidFill>
                            <a:schemeClr val="bg1"/>
                          </a:solidFill>
                          <a:latin typeface="Century Gothic" panose="020B0502020202020204" pitchFamily="34" charset="0"/>
                        </a:rPr>
                        <a:t>Low</a:t>
                      </a:r>
                    </a:p>
                  </a:txBody>
                  <a:tcPr anchor="ctr"/>
                </a:tc>
                <a:tc>
                  <a:txBody>
                    <a:bodyPr/>
                    <a:lstStyle/>
                    <a:p>
                      <a:pPr>
                        <a:buNone/>
                      </a:pPr>
                      <a:r>
                        <a:rPr lang="en-US" dirty="0">
                          <a:solidFill>
                            <a:schemeClr val="bg1"/>
                          </a:solidFill>
                          <a:latin typeface="Century Gothic" panose="020B0502020202020204" pitchFamily="34" charset="0"/>
                        </a:rPr>
                        <a:t>High</a:t>
                      </a:r>
                    </a:p>
                  </a:txBody>
                  <a:tcPr anchor="ctr"/>
                </a:tc>
                <a:tc>
                  <a:txBody>
                    <a:bodyPr/>
                    <a:lstStyle/>
                    <a:p>
                      <a:pPr>
                        <a:buNone/>
                      </a:pPr>
                      <a:r>
                        <a:rPr lang="en-US" dirty="0">
                          <a:solidFill>
                            <a:schemeClr val="bg1"/>
                          </a:solidFill>
                          <a:latin typeface="Century Gothic" panose="020B0502020202020204" pitchFamily="34" charset="0"/>
                        </a:rPr>
                        <a:t>4</a:t>
                      </a:r>
                    </a:p>
                  </a:txBody>
                  <a:tcPr anchor="ctr"/>
                </a:tc>
                <a:extLst>
                  <a:ext uri="{0D108BD9-81ED-4DB2-BD59-A6C34878D82A}">
                    <a16:rowId xmlns:a16="http://schemas.microsoft.com/office/drawing/2014/main" val="3610373306"/>
                  </a:ext>
                </a:extLst>
              </a:tr>
            </a:tbl>
          </a:graphicData>
        </a:graphic>
      </p:graphicFrame>
      <p:pic>
        <p:nvPicPr>
          <p:cNvPr id="4" name="Slide 5">
            <a:hlinkClick r:id="" action="ppaction://media"/>
            <a:extLst>
              <a:ext uri="{FF2B5EF4-FFF2-40B4-BE49-F238E27FC236}">
                <a16:creationId xmlns:a16="http://schemas.microsoft.com/office/drawing/2014/main" id="{B6C47E04-924C-2266-2689-145BD27C00B1}"/>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4864" y="18288"/>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8033"/>
    </mc:Choice>
    <mc:Fallback xmlns="">
      <p:transition spd="slow" advTm="880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80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pic>
        <p:nvPicPr>
          <p:cNvPr id="183" name="Google Shape;183;p7"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2E211E9C-DDA9-A258-D21A-45CFE6D4EDC3}"/>
              </a:ext>
            </a:extLst>
          </p:cNvPr>
          <p:cNvGraphicFramePr>
            <a:graphicFrameLocks noGrp="1"/>
          </p:cNvGraphicFramePr>
          <p:nvPr>
            <p:extLst>
              <p:ext uri="{D42A27DB-BD31-4B8C-83A1-F6EECF244321}">
                <p14:modId xmlns:p14="http://schemas.microsoft.com/office/powerpoint/2010/main" val="3733892958"/>
              </p:ext>
            </p:extLst>
          </p:nvPr>
        </p:nvGraphicFramePr>
        <p:xfrm>
          <a:off x="762000" y="2377439"/>
          <a:ext cx="10104120" cy="3716188"/>
        </p:xfrm>
        <a:graphic>
          <a:graphicData uri="http://schemas.openxmlformats.org/drawingml/2006/table">
            <a:tbl>
              <a:tblPr>
                <a:tableStyleId>{802198C4-3087-4945-87E3-76CBB3509B7E}</a:tableStyleId>
              </a:tblPr>
              <a:tblGrid>
                <a:gridCol w="3368040">
                  <a:extLst>
                    <a:ext uri="{9D8B030D-6E8A-4147-A177-3AD203B41FA5}">
                      <a16:colId xmlns:a16="http://schemas.microsoft.com/office/drawing/2014/main" val="249082450"/>
                    </a:ext>
                  </a:extLst>
                </a:gridCol>
                <a:gridCol w="3368040">
                  <a:extLst>
                    <a:ext uri="{9D8B030D-6E8A-4147-A177-3AD203B41FA5}">
                      <a16:colId xmlns:a16="http://schemas.microsoft.com/office/drawing/2014/main" val="1105164163"/>
                    </a:ext>
                  </a:extLst>
                </a:gridCol>
                <a:gridCol w="3368040">
                  <a:extLst>
                    <a:ext uri="{9D8B030D-6E8A-4147-A177-3AD203B41FA5}">
                      <a16:colId xmlns:a16="http://schemas.microsoft.com/office/drawing/2014/main" val="1763138439"/>
                    </a:ext>
                  </a:extLst>
                </a:gridCol>
              </a:tblGrid>
              <a:tr h="609211">
                <a:tc>
                  <a:txBody>
                    <a:bodyPr/>
                    <a:lstStyle/>
                    <a:p>
                      <a:pPr>
                        <a:buNone/>
                      </a:pPr>
                      <a:r>
                        <a:rPr lang="en-US" b="1" dirty="0">
                          <a:solidFill>
                            <a:schemeClr val="bg1"/>
                          </a:solidFill>
                          <a:latin typeface="Century Gothic" panose="020B0502020202020204" pitchFamily="34" charset="0"/>
                        </a:rPr>
                        <a:t>Encryption policy</a:t>
                      </a:r>
                    </a:p>
                  </a:txBody>
                  <a:tcPr anchor="ctr"/>
                </a:tc>
                <a:tc>
                  <a:txBody>
                    <a:bodyPr/>
                    <a:lstStyle/>
                    <a:p>
                      <a:pPr>
                        <a:buNone/>
                      </a:pPr>
                      <a:r>
                        <a:rPr lang="en-US" b="1" dirty="0">
                          <a:solidFill>
                            <a:schemeClr val="bg1"/>
                          </a:solidFill>
                          <a:latin typeface="Century Gothic" panose="020B0502020202020204" pitchFamily="34" charset="0"/>
                        </a:rPr>
                        <a:t>Green Pace implementation</a:t>
                      </a:r>
                    </a:p>
                  </a:txBody>
                  <a:tcPr anchor="ctr"/>
                </a:tc>
                <a:tc>
                  <a:txBody>
                    <a:bodyPr/>
                    <a:lstStyle/>
                    <a:p>
                      <a:pPr>
                        <a:buNone/>
                      </a:pPr>
                      <a:r>
                        <a:rPr lang="en-US" b="1" dirty="0">
                          <a:solidFill>
                            <a:schemeClr val="bg1"/>
                          </a:solidFill>
                          <a:latin typeface="Century Gothic" panose="020B0502020202020204" pitchFamily="34" charset="0"/>
                        </a:rPr>
                        <a:t>Purpose</a:t>
                      </a:r>
                    </a:p>
                  </a:txBody>
                  <a:tcPr anchor="ctr"/>
                </a:tc>
                <a:extLst>
                  <a:ext uri="{0D108BD9-81ED-4DB2-BD59-A6C34878D82A}">
                    <a16:rowId xmlns:a16="http://schemas.microsoft.com/office/drawing/2014/main" val="2522020538"/>
                  </a:ext>
                </a:extLst>
              </a:tr>
              <a:tr h="1035659">
                <a:tc>
                  <a:txBody>
                    <a:bodyPr/>
                    <a:lstStyle/>
                    <a:p>
                      <a:pPr>
                        <a:buNone/>
                      </a:pPr>
                      <a:r>
                        <a:rPr lang="en-US" dirty="0">
                          <a:solidFill>
                            <a:schemeClr val="bg1"/>
                          </a:solidFill>
                          <a:latin typeface="Century Gothic" panose="020B0502020202020204" pitchFamily="34" charset="0"/>
                        </a:rPr>
                        <a:t>At Rest</a:t>
                      </a:r>
                    </a:p>
                  </a:txBody>
                  <a:tcPr anchor="ctr"/>
                </a:tc>
                <a:tc>
                  <a:txBody>
                    <a:bodyPr/>
                    <a:lstStyle/>
                    <a:p>
                      <a:pPr>
                        <a:buNone/>
                      </a:pPr>
                      <a:r>
                        <a:rPr lang="en-US" dirty="0">
                          <a:solidFill>
                            <a:schemeClr val="bg1"/>
                          </a:solidFill>
                          <a:latin typeface="Century Gothic" panose="020B0502020202020204" pitchFamily="34" charset="0"/>
                        </a:rPr>
                        <a:t>AES-256 encryption; separate encryption-key storage</a:t>
                      </a:r>
                    </a:p>
                  </a:txBody>
                  <a:tcPr anchor="ctr"/>
                </a:tc>
                <a:tc>
                  <a:txBody>
                    <a:bodyPr/>
                    <a:lstStyle/>
                    <a:p>
                      <a:pPr>
                        <a:buNone/>
                      </a:pPr>
                      <a:r>
                        <a:rPr lang="en-US">
                          <a:solidFill>
                            <a:schemeClr val="bg1"/>
                          </a:solidFill>
                          <a:latin typeface="Century Gothic" panose="020B0502020202020204" pitchFamily="34" charset="0"/>
                        </a:rPr>
                        <a:t>Protect stored files, databases, and sensitive information</a:t>
                      </a:r>
                    </a:p>
                  </a:txBody>
                  <a:tcPr anchor="ctr"/>
                </a:tc>
                <a:extLst>
                  <a:ext uri="{0D108BD9-81ED-4DB2-BD59-A6C34878D82A}">
                    <a16:rowId xmlns:a16="http://schemas.microsoft.com/office/drawing/2014/main" val="2328548836"/>
                  </a:ext>
                </a:extLst>
              </a:tr>
              <a:tr h="1035659">
                <a:tc>
                  <a:txBody>
                    <a:bodyPr/>
                    <a:lstStyle/>
                    <a:p>
                      <a:pPr>
                        <a:buNone/>
                      </a:pPr>
                      <a:r>
                        <a:rPr lang="en-US">
                          <a:solidFill>
                            <a:schemeClr val="bg1"/>
                          </a:solidFill>
                          <a:latin typeface="Century Gothic" panose="020B0502020202020204" pitchFamily="34" charset="0"/>
                        </a:rPr>
                        <a:t>In Flight</a:t>
                      </a:r>
                    </a:p>
                  </a:txBody>
                  <a:tcPr anchor="ctr"/>
                </a:tc>
                <a:tc>
                  <a:txBody>
                    <a:bodyPr/>
                    <a:lstStyle/>
                    <a:p>
                      <a:pPr>
                        <a:buNone/>
                      </a:pPr>
                      <a:r>
                        <a:rPr lang="en-US" dirty="0">
                          <a:solidFill>
                            <a:schemeClr val="bg1"/>
                          </a:solidFill>
                          <a:latin typeface="Century Gothic" panose="020B0502020202020204" pitchFamily="34" charset="0"/>
                        </a:rPr>
                        <a:t>HTTPS with TLS 1.3</a:t>
                      </a:r>
                    </a:p>
                  </a:txBody>
                  <a:tcPr anchor="ctr"/>
                </a:tc>
                <a:tc>
                  <a:txBody>
                    <a:bodyPr/>
                    <a:lstStyle/>
                    <a:p>
                      <a:pPr>
                        <a:buNone/>
                      </a:pPr>
                      <a:r>
                        <a:rPr lang="en-US">
                          <a:solidFill>
                            <a:schemeClr val="bg1"/>
                          </a:solidFill>
                          <a:latin typeface="Century Gothic" panose="020B0502020202020204" pitchFamily="34" charset="0"/>
                        </a:rPr>
                        <a:t>Protect data traveling between clients and servers</a:t>
                      </a:r>
                    </a:p>
                  </a:txBody>
                  <a:tcPr anchor="ctr"/>
                </a:tc>
                <a:extLst>
                  <a:ext uri="{0D108BD9-81ED-4DB2-BD59-A6C34878D82A}">
                    <a16:rowId xmlns:a16="http://schemas.microsoft.com/office/drawing/2014/main" val="1872114967"/>
                  </a:ext>
                </a:extLst>
              </a:tr>
              <a:tr h="1035659">
                <a:tc>
                  <a:txBody>
                    <a:bodyPr/>
                    <a:lstStyle/>
                    <a:p>
                      <a:pPr>
                        <a:buNone/>
                      </a:pPr>
                      <a:r>
                        <a:rPr lang="en-US">
                          <a:solidFill>
                            <a:schemeClr val="bg1"/>
                          </a:solidFill>
                          <a:latin typeface="Century Gothic" panose="020B0502020202020204" pitchFamily="34" charset="0"/>
                        </a:rPr>
                        <a:t>In Use</a:t>
                      </a:r>
                    </a:p>
                  </a:txBody>
                  <a:tcPr anchor="ctr"/>
                </a:tc>
                <a:tc>
                  <a:txBody>
                    <a:bodyPr/>
                    <a:lstStyle/>
                    <a:p>
                      <a:pPr>
                        <a:buNone/>
                      </a:pPr>
                      <a:r>
                        <a:rPr lang="en-US" dirty="0">
                          <a:solidFill>
                            <a:schemeClr val="bg1"/>
                          </a:solidFill>
                          <a:latin typeface="Century Gothic" panose="020B0502020202020204" pitchFamily="34" charset="0"/>
                        </a:rPr>
                        <a:t>Trusted execution environments, access controls, secure memory management</a:t>
                      </a:r>
                    </a:p>
                  </a:txBody>
                  <a:tcPr anchor="ctr"/>
                </a:tc>
                <a:tc>
                  <a:txBody>
                    <a:bodyPr/>
                    <a:lstStyle/>
                    <a:p>
                      <a:pPr>
                        <a:buNone/>
                      </a:pPr>
                      <a:r>
                        <a:rPr lang="en-US" dirty="0">
                          <a:solidFill>
                            <a:schemeClr val="bg1"/>
                          </a:solidFill>
                          <a:latin typeface="Century Gothic" panose="020B0502020202020204" pitchFamily="34" charset="0"/>
                        </a:rPr>
                        <a:t>Protect sensitive information while actively being processed</a:t>
                      </a:r>
                    </a:p>
                  </a:txBody>
                  <a:tcPr anchor="ctr"/>
                </a:tc>
                <a:extLst>
                  <a:ext uri="{0D108BD9-81ED-4DB2-BD59-A6C34878D82A}">
                    <a16:rowId xmlns:a16="http://schemas.microsoft.com/office/drawing/2014/main" val="1714488833"/>
                  </a:ext>
                </a:extLst>
              </a:tr>
            </a:tbl>
          </a:graphicData>
        </a:graphic>
      </p:graphicFrame>
      <p:pic>
        <p:nvPicPr>
          <p:cNvPr id="4" name="Slide 6">
            <a:hlinkClick r:id="" action="ppaction://media"/>
            <a:extLst>
              <a:ext uri="{FF2B5EF4-FFF2-40B4-BE49-F238E27FC236}">
                <a16:creationId xmlns:a16="http://schemas.microsoft.com/office/drawing/2014/main" id="{89E67C70-F0E7-A496-B69C-85CF1FBAABF8}"/>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60960" y="12192"/>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3255"/>
    </mc:Choice>
    <mc:Fallback xmlns="">
      <p:transition spd="slow" advTm="832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325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pic>
        <p:nvPicPr>
          <p:cNvPr id="190" name="Google Shape;190;p8"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EA58FD2C-DB7E-E0E0-CEA4-D3BB8285562D}"/>
              </a:ext>
            </a:extLst>
          </p:cNvPr>
          <p:cNvGraphicFramePr>
            <a:graphicFrameLocks noGrp="1"/>
          </p:cNvGraphicFramePr>
          <p:nvPr>
            <p:extLst>
              <p:ext uri="{D42A27DB-BD31-4B8C-83A1-F6EECF244321}">
                <p14:modId xmlns:p14="http://schemas.microsoft.com/office/powerpoint/2010/main" val="2263052604"/>
              </p:ext>
            </p:extLst>
          </p:nvPr>
        </p:nvGraphicFramePr>
        <p:xfrm>
          <a:off x="685800" y="2392679"/>
          <a:ext cx="10058400" cy="3700948"/>
        </p:xfrm>
        <a:graphic>
          <a:graphicData uri="http://schemas.openxmlformats.org/drawingml/2006/table">
            <a:tbl>
              <a:tblPr>
                <a:tableStyleId>{802198C4-3087-4945-87E3-76CBB3509B7E}</a:tableStyleId>
              </a:tblPr>
              <a:tblGrid>
                <a:gridCol w="3352800">
                  <a:extLst>
                    <a:ext uri="{9D8B030D-6E8A-4147-A177-3AD203B41FA5}">
                      <a16:colId xmlns:a16="http://schemas.microsoft.com/office/drawing/2014/main" val="2335660507"/>
                    </a:ext>
                  </a:extLst>
                </a:gridCol>
                <a:gridCol w="3352800">
                  <a:extLst>
                    <a:ext uri="{9D8B030D-6E8A-4147-A177-3AD203B41FA5}">
                      <a16:colId xmlns:a16="http://schemas.microsoft.com/office/drawing/2014/main" val="721835372"/>
                    </a:ext>
                  </a:extLst>
                </a:gridCol>
                <a:gridCol w="3352800">
                  <a:extLst>
                    <a:ext uri="{9D8B030D-6E8A-4147-A177-3AD203B41FA5}">
                      <a16:colId xmlns:a16="http://schemas.microsoft.com/office/drawing/2014/main" val="2218113038"/>
                    </a:ext>
                  </a:extLst>
                </a:gridCol>
              </a:tblGrid>
              <a:tr h="544257">
                <a:tc>
                  <a:txBody>
                    <a:bodyPr/>
                    <a:lstStyle/>
                    <a:p>
                      <a:pPr>
                        <a:buNone/>
                      </a:pPr>
                      <a:r>
                        <a:rPr lang="en-US" b="1" dirty="0">
                          <a:solidFill>
                            <a:schemeClr val="bg1"/>
                          </a:solidFill>
                          <a:latin typeface="Century Gothic" panose="020B0502020202020204" pitchFamily="34" charset="0"/>
                        </a:rPr>
                        <a:t>Component</a:t>
                      </a:r>
                    </a:p>
                  </a:txBody>
                  <a:tcPr anchor="ctr"/>
                </a:tc>
                <a:tc>
                  <a:txBody>
                    <a:bodyPr/>
                    <a:lstStyle/>
                    <a:p>
                      <a:pPr>
                        <a:buNone/>
                      </a:pPr>
                      <a:r>
                        <a:rPr lang="en-US" b="1">
                          <a:solidFill>
                            <a:schemeClr val="bg1"/>
                          </a:solidFill>
                          <a:latin typeface="Century Gothic" panose="020B0502020202020204" pitchFamily="34" charset="0"/>
                        </a:rPr>
                        <a:t>Green Pace implementation</a:t>
                      </a:r>
                    </a:p>
                  </a:txBody>
                  <a:tcPr anchor="ctr"/>
                </a:tc>
                <a:tc>
                  <a:txBody>
                    <a:bodyPr/>
                    <a:lstStyle/>
                    <a:p>
                      <a:pPr>
                        <a:buNone/>
                      </a:pPr>
                      <a:r>
                        <a:rPr lang="en-US" b="1" dirty="0">
                          <a:solidFill>
                            <a:schemeClr val="bg1"/>
                          </a:solidFill>
                          <a:latin typeface="Century Gothic" panose="020B0502020202020204" pitchFamily="34" charset="0"/>
                        </a:rPr>
                        <a:t>Purpose</a:t>
                      </a:r>
                    </a:p>
                  </a:txBody>
                  <a:tcPr anchor="ctr"/>
                </a:tc>
                <a:extLst>
                  <a:ext uri="{0D108BD9-81ED-4DB2-BD59-A6C34878D82A}">
                    <a16:rowId xmlns:a16="http://schemas.microsoft.com/office/drawing/2014/main" val="779681213"/>
                  </a:ext>
                </a:extLst>
              </a:tr>
              <a:tr h="925237">
                <a:tc>
                  <a:txBody>
                    <a:bodyPr/>
                    <a:lstStyle/>
                    <a:p>
                      <a:pPr>
                        <a:buNone/>
                      </a:pPr>
                      <a:r>
                        <a:rPr lang="en-US" dirty="0">
                          <a:solidFill>
                            <a:schemeClr val="bg1"/>
                          </a:solidFill>
                          <a:latin typeface="Century Gothic" panose="020B0502020202020204" pitchFamily="34" charset="0"/>
                        </a:rPr>
                        <a:t>Authentication</a:t>
                      </a:r>
                    </a:p>
                  </a:txBody>
                  <a:tcPr anchor="ctr"/>
                </a:tc>
                <a:tc>
                  <a:txBody>
                    <a:bodyPr/>
                    <a:lstStyle/>
                    <a:p>
                      <a:pPr>
                        <a:buNone/>
                      </a:pPr>
                      <a:r>
                        <a:rPr lang="en-US" dirty="0">
                          <a:solidFill>
                            <a:schemeClr val="bg1"/>
                          </a:solidFill>
                          <a:latin typeface="Century Gothic" panose="020B0502020202020204" pitchFamily="34" charset="0"/>
                        </a:rPr>
                        <a:t>Multifactor authentication, Active Directory, secure LDAP (LDAPS)</a:t>
                      </a:r>
                    </a:p>
                  </a:txBody>
                  <a:tcPr anchor="ctr"/>
                </a:tc>
                <a:tc>
                  <a:txBody>
                    <a:bodyPr/>
                    <a:lstStyle/>
                    <a:p>
                      <a:pPr>
                        <a:buNone/>
                      </a:pPr>
                      <a:r>
                        <a:rPr lang="en-US">
                          <a:solidFill>
                            <a:schemeClr val="bg1"/>
                          </a:solidFill>
                          <a:latin typeface="Century Gothic" panose="020B0502020202020204" pitchFamily="34" charset="0"/>
                        </a:rPr>
                        <a:t>Verify user identities</a:t>
                      </a:r>
                    </a:p>
                  </a:txBody>
                  <a:tcPr anchor="ctr"/>
                </a:tc>
                <a:extLst>
                  <a:ext uri="{0D108BD9-81ED-4DB2-BD59-A6C34878D82A}">
                    <a16:rowId xmlns:a16="http://schemas.microsoft.com/office/drawing/2014/main" val="30788925"/>
                  </a:ext>
                </a:extLst>
              </a:tr>
              <a:tr h="925237">
                <a:tc>
                  <a:txBody>
                    <a:bodyPr/>
                    <a:lstStyle/>
                    <a:p>
                      <a:pPr>
                        <a:buNone/>
                      </a:pPr>
                      <a:r>
                        <a:rPr lang="en-US" dirty="0">
                          <a:solidFill>
                            <a:schemeClr val="bg1"/>
                          </a:solidFill>
                          <a:latin typeface="Century Gothic" panose="020B0502020202020204" pitchFamily="34" charset="0"/>
                        </a:rPr>
                        <a:t>Authorization</a:t>
                      </a:r>
                    </a:p>
                  </a:txBody>
                  <a:tcPr anchor="ctr"/>
                </a:tc>
                <a:tc>
                  <a:txBody>
                    <a:bodyPr/>
                    <a:lstStyle/>
                    <a:p>
                      <a:pPr>
                        <a:buNone/>
                      </a:pPr>
                      <a:r>
                        <a:rPr lang="en-US" dirty="0">
                          <a:solidFill>
                            <a:schemeClr val="bg1"/>
                          </a:solidFill>
                          <a:latin typeface="Century Gothic" panose="020B0502020202020204" pitchFamily="34" charset="0"/>
                        </a:rPr>
                        <a:t>Role-based access control, least privilege, default deny</a:t>
                      </a:r>
                    </a:p>
                  </a:txBody>
                  <a:tcPr anchor="ctr"/>
                </a:tc>
                <a:tc>
                  <a:txBody>
                    <a:bodyPr/>
                    <a:lstStyle/>
                    <a:p>
                      <a:pPr>
                        <a:buNone/>
                      </a:pPr>
                      <a:r>
                        <a:rPr lang="en-US" dirty="0">
                          <a:solidFill>
                            <a:schemeClr val="bg1"/>
                          </a:solidFill>
                          <a:latin typeface="Century Gothic" panose="020B0502020202020204" pitchFamily="34" charset="0"/>
                        </a:rPr>
                        <a:t>Restrict access to authorized resources</a:t>
                      </a:r>
                    </a:p>
                  </a:txBody>
                  <a:tcPr anchor="ctr"/>
                </a:tc>
                <a:extLst>
                  <a:ext uri="{0D108BD9-81ED-4DB2-BD59-A6C34878D82A}">
                    <a16:rowId xmlns:a16="http://schemas.microsoft.com/office/drawing/2014/main" val="1534618553"/>
                  </a:ext>
                </a:extLst>
              </a:tr>
              <a:tr h="1306217">
                <a:tc>
                  <a:txBody>
                    <a:bodyPr/>
                    <a:lstStyle/>
                    <a:p>
                      <a:pPr>
                        <a:buNone/>
                      </a:pPr>
                      <a:r>
                        <a:rPr lang="en-US" dirty="0">
                          <a:solidFill>
                            <a:schemeClr val="bg1"/>
                          </a:solidFill>
                          <a:latin typeface="Century Gothic" panose="020B0502020202020204" pitchFamily="34" charset="0"/>
                        </a:rPr>
                        <a:t>Accounting</a:t>
                      </a:r>
                    </a:p>
                  </a:txBody>
                  <a:tcPr anchor="ctr"/>
                </a:tc>
                <a:tc>
                  <a:txBody>
                    <a:bodyPr/>
                    <a:lstStyle/>
                    <a:p>
                      <a:pPr>
                        <a:buNone/>
                      </a:pPr>
                      <a:r>
                        <a:rPr lang="en-US">
                          <a:solidFill>
                            <a:schemeClr val="bg1"/>
                          </a:solidFill>
                          <a:latin typeface="Century Gothic" panose="020B0502020202020204" pitchFamily="34" charset="0"/>
                        </a:rPr>
                        <a:t>Audit logs of logins, access changes, database modifications, and file access</a:t>
                      </a:r>
                    </a:p>
                  </a:txBody>
                  <a:tcPr anchor="ctr"/>
                </a:tc>
                <a:tc>
                  <a:txBody>
                    <a:bodyPr/>
                    <a:lstStyle/>
                    <a:p>
                      <a:pPr>
                        <a:buNone/>
                      </a:pPr>
                      <a:r>
                        <a:rPr lang="en-US" dirty="0">
                          <a:solidFill>
                            <a:schemeClr val="bg1"/>
                          </a:solidFill>
                          <a:latin typeface="Century Gothic" panose="020B0502020202020204" pitchFamily="34" charset="0"/>
                        </a:rPr>
                        <a:t>Track activity and support security investigations</a:t>
                      </a:r>
                    </a:p>
                  </a:txBody>
                  <a:tcPr anchor="ctr"/>
                </a:tc>
                <a:extLst>
                  <a:ext uri="{0D108BD9-81ED-4DB2-BD59-A6C34878D82A}">
                    <a16:rowId xmlns:a16="http://schemas.microsoft.com/office/drawing/2014/main" val="4109610942"/>
                  </a:ext>
                </a:extLst>
              </a:tr>
            </a:tbl>
          </a:graphicData>
        </a:graphic>
      </p:graphicFrame>
      <p:pic>
        <p:nvPicPr>
          <p:cNvPr id="4" name="Recorded Sound">
            <a:hlinkClick r:id="" action="ppaction://media"/>
            <a:extLst>
              <a:ext uri="{FF2B5EF4-FFF2-40B4-BE49-F238E27FC236}">
                <a16:creationId xmlns:a16="http://schemas.microsoft.com/office/drawing/2014/main" id="{B62057EB-0668-62F7-A1BF-2E8782290705}"/>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76200" y="0"/>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9012"/>
    </mc:Choice>
    <mc:Fallback xmlns="">
      <p:transition spd="slow" advTm="890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901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pic>
        <p:nvPicPr>
          <p:cNvPr id="197" name="Google Shape;197;g9504e29505_0_0"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
        <p:nvSpPr>
          <p:cNvPr id="5" name="Google Shape;196;g9504e29505_0_0">
            <a:extLst>
              <a:ext uri="{FF2B5EF4-FFF2-40B4-BE49-F238E27FC236}">
                <a16:creationId xmlns:a16="http://schemas.microsoft.com/office/drawing/2014/main" id="{932FC4D9-6C8F-51FB-1471-A1C548872719}"/>
              </a:ext>
            </a:extLst>
          </p:cNvPr>
          <p:cNvSpPr txBox="1">
            <a:spLocks noGrp="1"/>
          </p:cNvSpPr>
          <p:nvPr>
            <p:ph type="body" idx="1"/>
          </p:nvPr>
        </p:nvSpPr>
        <p:spPr>
          <a:xfrm>
            <a:off x="204830" y="1975698"/>
            <a:ext cx="7018930" cy="4024200"/>
          </a:xfrm>
          <a:prstGeom prst="rect">
            <a:avLst/>
          </a:prstGeom>
          <a:noFill/>
          <a:ln>
            <a:noFill/>
          </a:ln>
        </p:spPr>
        <p:txBody>
          <a:bodyPr spcFirstLastPara="1" wrap="square" lIns="91425" tIns="45700" rIns="91425" bIns="45700" anchor="t" anchorCtr="0">
            <a:noAutofit/>
          </a:bodyPr>
          <a:lstStyle/>
          <a:p>
            <a:pPr marL="114300" indent="0">
              <a:buNone/>
            </a:pPr>
            <a:r>
              <a:rPr lang="en-US" sz="2000" b="1" dirty="0"/>
              <a:t>Can an Element Be Added to an Empty Collection?</a:t>
            </a:r>
          </a:p>
          <a:p>
            <a:pPr marL="114300" indent="0">
              <a:buNone/>
            </a:pPr>
            <a:endParaRPr lang="en-US" sz="2000" b="1" dirty="0"/>
          </a:p>
          <a:p>
            <a:pPr marL="114300" indent="0">
              <a:buNone/>
            </a:pPr>
            <a:r>
              <a:rPr lang="en-US" sz="1800" b="1" dirty="0"/>
              <a:t>Framework</a:t>
            </a:r>
            <a:r>
              <a:rPr lang="en-US" sz="1800" dirty="0"/>
              <a:t>: Google Test (TEST_F fixture)</a:t>
            </a:r>
          </a:p>
          <a:p>
            <a:pPr marL="114300" indent="0">
              <a:buNone/>
            </a:pPr>
            <a:r>
              <a:rPr lang="en-US" sz="1800" b="1" dirty="0"/>
              <a:t>Security Principle</a:t>
            </a:r>
            <a:r>
              <a:rPr lang="en-US" sz="1800" dirty="0"/>
              <a:t>: Use Effective Quality Assurance Techniques</a:t>
            </a:r>
            <a:endParaRPr lang="en-US" sz="1800" b="1" dirty="0"/>
          </a:p>
          <a:p>
            <a:pPr marL="114300" indent="0">
              <a:buNone/>
            </a:pPr>
            <a:r>
              <a:rPr lang="en-US" sz="1800" b="1" dirty="0"/>
              <a:t>Objective</a:t>
            </a:r>
            <a:r>
              <a:rPr lang="en-US" sz="1800" dirty="0"/>
              <a:t>: Verify successful insertion into an empty vector.</a:t>
            </a:r>
          </a:p>
          <a:p>
            <a:pPr marL="114300" indent="0">
              <a:buNone/>
            </a:pPr>
            <a:r>
              <a:rPr lang="en-US" sz="1800" b="1" dirty="0"/>
              <a:t>Assertions</a:t>
            </a:r>
            <a:r>
              <a:rPr lang="en-US" sz="1800" dirty="0"/>
              <a:t>: ASSERT_TRUE, ASSERT_EQ, EXPECT_FALSE, EXPECT_EQ</a:t>
            </a:r>
          </a:p>
          <a:p>
            <a:pPr marL="114300" indent="0">
              <a:buNone/>
            </a:pPr>
            <a:r>
              <a:rPr lang="en-US" sz="1800" b="1" dirty="0"/>
              <a:t>Result</a:t>
            </a:r>
            <a:r>
              <a:rPr lang="en-US" sz="1800" dirty="0"/>
              <a:t>: Passed - Vector size increased from 0 to 1.</a:t>
            </a:r>
          </a:p>
          <a:p>
            <a:pPr marL="114300" indent="0">
              <a:buNone/>
            </a:pPr>
            <a:r>
              <a:rPr lang="en-US" sz="1800" b="1" dirty="0"/>
              <a:t>Further</a:t>
            </a:r>
            <a:r>
              <a:rPr lang="en-US" sz="1800" dirty="0"/>
              <a:t> </a:t>
            </a:r>
            <a:r>
              <a:rPr lang="en-US" sz="1800" b="1" dirty="0"/>
              <a:t>testing</a:t>
            </a:r>
            <a:r>
              <a:rPr lang="en-US" sz="1800" dirty="0"/>
              <a:t>: Verify the inserted value is correct, not just the collection size.</a:t>
            </a:r>
          </a:p>
        </p:txBody>
      </p:sp>
      <p:pic>
        <p:nvPicPr>
          <p:cNvPr id="7" name="Picture 6">
            <a:extLst>
              <a:ext uri="{FF2B5EF4-FFF2-40B4-BE49-F238E27FC236}">
                <a16:creationId xmlns:a16="http://schemas.microsoft.com/office/drawing/2014/main" id="{5BBFE4C3-F451-87E8-63DA-F2325D84BCD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21910" y="2155190"/>
            <a:ext cx="3548804" cy="3572542"/>
          </a:xfrm>
          <a:prstGeom prst="rect">
            <a:avLst/>
          </a:prstGeom>
        </p:spPr>
      </p:pic>
      <p:pic>
        <p:nvPicPr>
          <p:cNvPr id="3" name="Recorded Sound">
            <a:hlinkClick r:id="" action="ppaction://media"/>
            <a:extLst>
              <a:ext uri="{FF2B5EF4-FFF2-40B4-BE49-F238E27FC236}">
                <a16:creationId xmlns:a16="http://schemas.microsoft.com/office/drawing/2014/main" id="{338E4AEF-0A46-C0A1-07CA-DE05FDA28758}"/>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73152" y="0"/>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288"/>
    </mc:Choice>
    <mc:Fallback xmlns="">
      <p:transition spd="slow" advTm="312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28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D535874B-E661-DAB2-C8FF-2D7AF177E205}"/>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3D78788B-367F-AB6F-EBE3-86A3555B3CD9}"/>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pic>
        <p:nvPicPr>
          <p:cNvPr id="197" name="Google Shape;197;g9504e29505_0_0" descr="Green Pace logo">
            <a:extLst>
              <a:ext uri="{FF2B5EF4-FFF2-40B4-BE49-F238E27FC236}">
                <a16:creationId xmlns:a16="http://schemas.microsoft.com/office/drawing/2014/main" id="{3D3F4BFF-982F-8E9F-3C68-E5DB703A2FBC}"/>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
        <p:nvSpPr>
          <p:cNvPr id="5" name="Google Shape;196;g9504e29505_0_0">
            <a:extLst>
              <a:ext uri="{FF2B5EF4-FFF2-40B4-BE49-F238E27FC236}">
                <a16:creationId xmlns:a16="http://schemas.microsoft.com/office/drawing/2014/main" id="{D60BBB84-B1B6-DEA5-1BC0-A59613F6C818}"/>
              </a:ext>
            </a:extLst>
          </p:cNvPr>
          <p:cNvSpPr txBox="1">
            <a:spLocks noGrp="1"/>
          </p:cNvSpPr>
          <p:nvPr>
            <p:ph type="body" idx="1"/>
          </p:nvPr>
        </p:nvSpPr>
        <p:spPr>
          <a:xfrm>
            <a:off x="204830" y="1747098"/>
            <a:ext cx="7018930" cy="4024200"/>
          </a:xfrm>
          <a:prstGeom prst="rect">
            <a:avLst/>
          </a:prstGeom>
          <a:noFill/>
          <a:ln>
            <a:noFill/>
          </a:ln>
        </p:spPr>
        <p:txBody>
          <a:bodyPr spcFirstLastPara="1" wrap="square" lIns="91425" tIns="45700" rIns="91425" bIns="45700" anchor="t" anchorCtr="0">
            <a:noAutofit/>
          </a:bodyPr>
          <a:lstStyle/>
          <a:p>
            <a:pPr marL="114300" indent="0">
              <a:buNone/>
            </a:pPr>
            <a:r>
              <a:rPr lang="en-US" sz="2000" b="1" dirty="0"/>
              <a:t>Can Five Elements Be Added Within the Expected Value Range?</a:t>
            </a:r>
          </a:p>
          <a:p>
            <a:pPr marL="114300" indent="0">
              <a:buNone/>
            </a:pPr>
            <a:endParaRPr lang="en-US" sz="2000" b="1" dirty="0"/>
          </a:p>
          <a:p>
            <a:pPr marL="114300" indent="0">
              <a:buNone/>
            </a:pPr>
            <a:r>
              <a:rPr lang="en-US" sz="1800" b="1" dirty="0"/>
              <a:t>Framework</a:t>
            </a:r>
            <a:r>
              <a:rPr lang="en-US" sz="1800" dirty="0"/>
              <a:t>: Google Test (TEST_F fixture)</a:t>
            </a:r>
          </a:p>
          <a:p>
            <a:pPr marL="114300" indent="0">
              <a:buNone/>
            </a:pPr>
            <a:r>
              <a:rPr lang="en-US" sz="1800" b="1" dirty="0"/>
              <a:t>Security Principle</a:t>
            </a:r>
            <a:r>
              <a:rPr lang="en-US" sz="1800" dirty="0"/>
              <a:t>: Validate Input Data</a:t>
            </a:r>
            <a:endParaRPr lang="en-US" sz="1800" b="1" dirty="0"/>
          </a:p>
          <a:p>
            <a:pPr marL="114300" indent="0">
              <a:buNone/>
            </a:pPr>
            <a:r>
              <a:rPr lang="en-US" sz="1800" b="1" dirty="0"/>
              <a:t>Objective</a:t>
            </a:r>
            <a:r>
              <a:rPr lang="en-US" sz="1800" dirty="0"/>
              <a:t>: Verify that five elements can be added to an empty vector and that their values remain within the expected range.</a:t>
            </a:r>
          </a:p>
          <a:p>
            <a:pPr marL="114300" indent="0">
              <a:buNone/>
            </a:pPr>
            <a:r>
              <a:rPr lang="en-US" sz="1800" b="1" dirty="0"/>
              <a:t>Assertions</a:t>
            </a:r>
            <a:r>
              <a:rPr lang="en-US" sz="1800" dirty="0"/>
              <a:t>: ASSERT_TRUE, ASSERT_EQ, EXPECT_FALSE, EXPECT_EQ, EXPECT_GE, EXPECT_LT</a:t>
            </a:r>
          </a:p>
          <a:p>
            <a:pPr marL="114300" indent="0">
              <a:buNone/>
            </a:pPr>
            <a:r>
              <a:rPr lang="en-US" sz="1800" b="1" dirty="0"/>
              <a:t>Result</a:t>
            </a:r>
            <a:r>
              <a:rPr lang="en-US" sz="1800" dirty="0"/>
              <a:t>: Passed - Five elements added, with values between 0 and 99.</a:t>
            </a:r>
          </a:p>
          <a:p>
            <a:pPr marL="114300" indent="0">
              <a:buNone/>
            </a:pPr>
            <a:r>
              <a:rPr lang="en-US" sz="1800" b="1" dirty="0"/>
              <a:t>Further</a:t>
            </a:r>
            <a:r>
              <a:rPr lang="en-US" sz="1800" dirty="0"/>
              <a:t> </a:t>
            </a:r>
            <a:r>
              <a:rPr lang="en-US" sz="1800" b="1" dirty="0"/>
              <a:t>testing</a:t>
            </a:r>
            <a:r>
              <a:rPr lang="en-US" sz="1800" dirty="0"/>
              <a:t>: Test larger collections and boundary values to verify that size and value constraints remain satisfied.</a:t>
            </a:r>
          </a:p>
        </p:txBody>
      </p:sp>
      <p:pic>
        <p:nvPicPr>
          <p:cNvPr id="3" name="Picture 2">
            <a:extLst>
              <a:ext uri="{FF2B5EF4-FFF2-40B4-BE49-F238E27FC236}">
                <a16:creationId xmlns:a16="http://schemas.microsoft.com/office/drawing/2014/main" id="{9D1CCDDB-2144-31DF-7A26-F75600D34E6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200900" y="2069427"/>
            <a:ext cx="3597304" cy="4024200"/>
          </a:xfrm>
          <a:prstGeom prst="rect">
            <a:avLst/>
          </a:prstGeom>
        </p:spPr>
      </p:pic>
      <p:pic>
        <p:nvPicPr>
          <p:cNvPr id="2" name="Recorded Sound">
            <a:hlinkClick r:id="" action="ppaction://media"/>
            <a:extLst>
              <a:ext uri="{FF2B5EF4-FFF2-40B4-BE49-F238E27FC236}">
                <a16:creationId xmlns:a16="http://schemas.microsoft.com/office/drawing/2014/main" id="{FBC71CD2-45FF-7D24-EFA1-7A4E27F539A7}"/>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76200" y="0"/>
            <a:ext cx="609600" cy="609600"/>
          </a:xfrm>
          <a:prstGeom prst="rect">
            <a:avLst/>
          </a:prstGeom>
        </p:spPr>
      </p:pic>
    </p:spTree>
    <p:custDataLst>
      <p:tags r:id="rId1"/>
    </p:custDataLst>
    <p:extLst>
      <p:ext uri="{BB962C8B-B14F-4D97-AF65-F5344CB8AC3E}">
        <p14:creationId xmlns:p14="http://schemas.microsoft.com/office/powerpoint/2010/main" val="385991009"/>
      </p:ext>
    </p:extLst>
  </p:cSld>
  <p:clrMapOvr>
    <a:masterClrMapping/>
  </p:clrMapOvr>
  <mc:AlternateContent xmlns:mc="http://schemas.openxmlformats.org/markup-compatibility/2006" xmlns:p14="http://schemas.microsoft.com/office/powerpoint/2010/main">
    <mc:Choice Requires="p14">
      <p:transition spd="slow" p14:dur="2000" advTm="27277"/>
    </mc:Choice>
    <mc:Fallback xmlns="">
      <p:transition spd="slow" advTm="272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27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70D43B34-2FCC-FF37-60F8-8CF4358291D9}"/>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F4C81A44-94DD-36F0-7090-DF4633227CD0}"/>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pic>
        <p:nvPicPr>
          <p:cNvPr id="197" name="Google Shape;197;g9504e29505_0_0" descr="Green Pace logo">
            <a:extLst>
              <a:ext uri="{FF2B5EF4-FFF2-40B4-BE49-F238E27FC236}">
                <a16:creationId xmlns:a16="http://schemas.microsoft.com/office/drawing/2014/main" id="{9057ECD8-2203-A5F5-8EB2-5F1DFA7291A4}"/>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
        <p:nvSpPr>
          <p:cNvPr id="5" name="Google Shape;196;g9504e29505_0_0">
            <a:extLst>
              <a:ext uri="{FF2B5EF4-FFF2-40B4-BE49-F238E27FC236}">
                <a16:creationId xmlns:a16="http://schemas.microsoft.com/office/drawing/2014/main" id="{04478C18-17EE-E7A1-BD9D-DEC00941D069}"/>
              </a:ext>
            </a:extLst>
          </p:cNvPr>
          <p:cNvSpPr txBox="1">
            <a:spLocks noGrp="1"/>
          </p:cNvSpPr>
          <p:nvPr>
            <p:ph type="body" idx="1"/>
          </p:nvPr>
        </p:nvSpPr>
        <p:spPr>
          <a:xfrm>
            <a:off x="204830" y="1731858"/>
            <a:ext cx="7018930" cy="4024200"/>
          </a:xfrm>
          <a:prstGeom prst="rect">
            <a:avLst/>
          </a:prstGeom>
          <a:noFill/>
          <a:ln>
            <a:noFill/>
          </a:ln>
        </p:spPr>
        <p:txBody>
          <a:bodyPr spcFirstLastPara="1" wrap="square" lIns="91425" tIns="45700" rIns="91425" bIns="45700" anchor="t" anchorCtr="0">
            <a:noAutofit/>
          </a:bodyPr>
          <a:lstStyle/>
          <a:p>
            <a:pPr marL="114300" indent="0">
              <a:buNone/>
            </a:pPr>
            <a:r>
              <a:rPr lang="en-US" sz="2000" b="1" dirty="0"/>
              <a:t>Can an Element Be Inserted Without Losing Existing Data?</a:t>
            </a:r>
          </a:p>
          <a:p>
            <a:pPr marL="114300" indent="0">
              <a:buNone/>
            </a:pPr>
            <a:endParaRPr lang="en-US" sz="2000" b="1" dirty="0"/>
          </a:p>
          <a:p>
            <a:pPr marL="114300" indent="0">
              <a:buNone/>
            </a:pPr>
            <a:r>
              <a:rPr lang="en-US" sz="1800" b="1" dirty="0"/>
              <a:t>Framework</a:t>
            </a:r>
            <a:r>
              <a:rPr lang="en-US" sz="1800" dirty="0"/>
              <a:t>: Google Test (TEST_F fixture)</a:t>
            </a:r>
          </a:p>
          <a:p>
            <a:pPr marL="114300" indent="0">
              <a:buNone/>
            </a:pPr>
            <a:r>
              <a:rPr lang="en-US" sz="1800" b="1" dirty="0"/>
              <a:t>Security Principle</a:t>
            </a:r>
            <a:r>
              <a:rPr lang="en-US" sz="1800" dirty="0"/>
              <a:t>: Use Effective Quality Assurance Techniques</a:t>
            </a:r>
            <a:endParaRPr lang="en-US" sz="1800" b="1" dirty="0"/>
          </a:p>
          <a:p>
            <a:pPr marL="114300" indent="0">
              <a:buNone/>
            </a:pPr>
            <a:r>
              <a:rPr lang="en-US" sz="1800" b="1" dirty="0"/>
              <a:t>Objective</a:t>
            </a:r>
            <a:r>
              <a:rPr lang="en-US" sz="1800" dirty="0"/>
              <a:t>: Verify that inserting a new element at the beginning of a vector preserves the existing elements and their order.</a:t>
            </a:r>
          </a:p>
          <a:p>
            <a:pPr marL="114300" indent="0">
              <a:buNone/>
            </a:pPr>
            <a:r>
              <a:rPr lang="en-US" sz="1800" b="1" dirty="0"/>
              <a:t>Assertions</a:t>
            </a:r>
            <a:r>
              <a:rPr lang="en-US" sz="1800" dirty="0"/>
              <a:t>: EXPECT_EQ</a:t>
            </a:r>
          </a:p>
          <a:p>
            <a:pPr marL="114300" indent="0">
              <a:buNone/>
            </a:pPr>
            <a:r>
              <a:rPr lang="en-US" sz="1800" b="1" dirty="0"/>
              <a:t>Result</a:t>
            </a:r>
            <a:r>
              <a:rPr lang="en-US" sz="1800" dirty="0"/>
              <a:t>: Passed - Inserted value appears first, vector size increases by one, existing values remained intact.</a:t>
            </a:r>
          </a:p>
          <a:p>
            <a:pPr marL="114300" indent="0">
              <a:buNone/>
            </a:pPr>
            <a:r>
              <a:rPr lang="en-US" sz="1800" b="1" dirty="0"/>
              <a:t>Further</a:t>
            </a:r>
            <a:r>
              <a:rPr lang="en-US" sz="1800" dirty="0"/>
              <a:t> </a:t>
            </a:r>
            <a:r>
              <a:rPr lang="en-US" sz="1800" b="1" dirty="0"/>
              <a:t>testing</a:t>
            </a:r>
            <a:r>
              <a:rPr lang="en-US" sz="1800" dirty="0"/>
              <a:t>: Test insertion into an empty vector and insertion at the end to verify correct behavior across different positions.</a:t>
            </a:r>
          </a:p>
        </p:txBody>
      </p:sp>
      <p:pic>
        <p:nvPicPr>
          <p:cNvPr id="3" name="Picture 2">
            <a:extLst>
              <a:ext uri="{FF2B5EF4-FFF2-40B4-BE49-F238E27FC236}">
                <a16:creationId xmlns:a16="http://schemas.microsoft.com/office/drawing/2014/main" id="{5EBB4CF2-F62B-5E2F-C64E-C648370DA64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083753" y="1938156"/>
            <a:ext cx="3660447" cy="4375106"/>
          </a:xfrm>
          <a:prstGeom prst="rect">
            <a:avLst/>
          </a:prstGeom>
        </p:spPr>
      </p:pic>
      <p:pic>
        <p:nvPicPr>
          <p:cNvPr id="2" name="Recorded Sound">
            <a:hlinkClick r:id="" action="ppaction://media"/>
            <a:extLst>
              <a:ext uri="{FF2B5EF4-FFF2-40B4-BE49-F238E27FC236}">
                <a16:creationId xmlns:a16="http://schemas.microsoft.com/office/drawing/2014/main" id="{8BC8E58E-7CE9-A32D-A02E-5C2E34728456}"/>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64622" y="0"/>
            <a:ext cx="609600" cy="609600"/>
          </a:xfrm>
          <a:prstGeom prst="rect">
            <a:avLst/>
          </a:prstGeom>
        </p:spPr>
      </p:pic>
    </p:spTree>
    <p:custDataLst>
      <p:tags r:id="rId1"/>
    </p:custDataLst>
    <p:extLst>
      <p:ext uri="{BB962C8B-B14F-4D97-AF65-F5344CB8AC3E}">
        <p14:creationId xmlns:p14="http://schemas.microsoft.com/office/powerpoint/2010/main" val="1483132112"/>
      </p:ext>
    </p:extLst>
  </p:cSld>
  <p:clrMapOvr>
    <a:masterClrMapping/>
  </p:clrMapOvr>
  <mc:AlternateContent xmlns:mc="http://schemas.openxmlformats.org/markup-compatibility/2006" xmlns:p14="http://schemas.microsoft.com/office/powerpoint/2010/main">
    <mc:Choice Requires="p14">
      <p:transition spd="slow" p14:dur="2000" advTm="30151"/>
    </mc:Choice>
    <mc:Fallback xmlns="">
      <p:transition spd="slow" advTm="301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15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0008961C-6814-666E-7E97-19A1268017E9}"/>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CED627F2-1D3C-64FE-2A90-25ACF20CC94C}"/>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pic>
        <p:nvPicPr>
          <p:cNvPr id="197" name="Google Shape;197;g9504e29505_0_0" descr="Green Pace logo">
            <a:extLst>
              <a:ext uri="{FF2B5EF4-FFF2-40B4-BE49-F238E27FC236}">
                <a16:creationId xmlns:a16="http://schemas.microsoft.com/office/drawing/2014/main" id="{5DC93B7B-4FCC-5FA0-3EB2-E92B33581590}"/>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
        <p:nvSpPr>
          <p:cNvPr id="5" name="Google Shape;196;g9504e29505_0_0">
            <a:extLst>
              <a:ext uri="{FF2B5EF4-FFF2-40B4-BE49-F238E27FC236}">
                <a16:creationId xmlns:a16="http://schemas.microsoft.com/office/drawing/2014/main" id="{B2EEBE3F-F3A2-880A-16B5-7527246AD98A}"/>
              </a:ext>
            </a:extLst>
          </p:cNvPr>
          <p:cNvSpPr txBox="1">
            <a:spLocks noGrp="1"/>
          </p:cNvSpPr>
          <p:nvPr>
            <p:ph type="body" idx="1"/>
          </p:nvPr>
        </p:nvSpPr>
        <p:spPr>
          <a:xfrm>
            <a:off x="204830" y="1670898"/>
            <a:ext cx="7018930" cy="4024200"/>
          </a:xfrm>
          <a:prstGeom prst="rect">
            <a:avLst/>
          </a:prstGeom>
          <a:noFill/>
          <a:ln>
            <a:noFill/>
          </a:ln>
        </p:spPr>
        <p:txBody>
          <a:bodyPr spcFirstLastPara="1" wrap="square" lIns="91425" tIns="45700" rIns="91425" bIns="45700" anchor="t" anchorCtr="0">
            <a:noAutofit/>
          </a:bodyPr>
          <a:lstStyle/>
          <a:p>
            <a:pPr marL="114300" indent="0">
              <a:buNone/>
            </a:pPr>
            <a:r>
              <a:rPr lang="en-US" sz="2000" b="1" dirty="0"/>
              <a:t>Does an Invalid Collection Index Trigger an Out-of-Range Exception?</a:t>
            </a:r>
          </a:p>
          <a:p>
            <a:pPr marL="114300" indent="0">
              <a:buNone/>
            </a:pPr>
            <a:endParaRPr lang="en-US" sz="2000" b="1" dirty="0"/>
          </a:p>
          <a:p>
            <a:pPr marL="114300" indent="0">
              <a:buNone/>
            </a:pPr>
            <a:r>
              <a:rPr lang="en-US" sz="1800" b="1" dirty="0"/>
              <a:t>Framework</a:t>
            </a:r>
            <a:r>
              <a:rPr lang="en-US" sz="1800" dirty="0"/>
              <a:t>: Google Test (TEST_F fixture)</a:t>
            </a:r>
          </a:p>
          <a:p>
            <a:pPr marL="114300" indent="0">
              <a:buNone/>
            </a:pPr>
            <a:r>
              <a:rPr lang="en-US" sz="1800" b="1" dirty="0"/>
              <a:t>Security Standard</a:t>
            </a:r>
            <a:r>
              <a:rPr lang="en-US" sz="1800" dirty="0"/>
              <a:t>: STD-007 - Exception handling</a:t>
            </a:r>
            <a:endParaRPr lang="en-US" sz="1800" b="1" dirty="0"/>
          </a:p>
          <a:p>
            <a:pPr marL="114300" indent="0">
              <a:buNone/>
            </a:pPr>
            <a:r>
              <a:rPr lang="en-US" sz="1800" b="1" dirty="0"/>
              <a:t>Objective</a:t>
            </a:r>
            <a:r>
              <a:rPr lang="en-US" sz="1800" dirty="0"/>
              <a:t>: Verify that accessing an invalid vector index using at() throws a std::</a:t>
            </a:r>
            <a:r>
              <a:rPr lang="en-US" sz="1800" dirty="0" err="1"/>
              <a:t>out_of_range</a:t>
            </a:r>
            <a:r>
              <a:rPr lang="en-US" sz="1800" dirty="0"/>
              <a:t> exception.</a:t>
            </a:r>
          </a:p>
          <a:p>
            <a:pPr marL="114300" indent="0">
              <a:buNone/>
            </a:pPr>
            <a:r>
              <a:rPr lang="en-US" sz="1800" b="1" dirty="0"/>
              <a:t>Assertions</a:t>
            </a:r>
            <a:r>
              <a:rPr lang="en-US" sz="1800" dirty="0"/>
              <a:t>: ASSERT_TRUE, EXPECT_THROW, EXPECT_NO_THROW</a:t>
            </a:r>
          </a:p>
          <a:p>
            <a:pPr marL="114300" indent="0">
              <a:buNone/>
            </a:pPr>
            <a:r>
              <a:rPr lang="en-US" sz="1800" b="1" dirty="0"/>
              <a:t>Result</a:t>
            </a:r>
            <a:r>
              <a:rPr lang="en-US" sz="1800" dirty="0"/>
              <a:t>: Passed – Invalid indices triggered the expected exception, while a valid index did not.</a:t>
            </a:r>
          </a:p>
          <a:p>
            <a:pPr marL="114300" indent="0">
              <a:buNone/>
            </a:pPr>
            <a:r>
              <a:rPr lang="en-US" sz="1800" b="1" dirty="0"/>
              <a:t>Further</a:t>
            </a:r>
            <a:r>
              <a:rPr lang="en-US" sz="1800" dirty="0"/>
              <a:t> </a:t>
            </a:r>
            <a:r>
              <a:rPr lang="en-US" sz="1800" b="1" dirty="0"/>
              <a:t>testing</a:t>
            </a:r>
            <a:r>
              <a:rPr lang="en-US" sz="1800" dirty="0"/>
              <a:t>: Test additional boundary indices and verify that the collection remains unchanged after an invalid access attempt.</a:t>
            </a:r>
          </a:p>
        </p:txBody>
      </p:sp>
      <p:pic>
        <p:nvPicPr>
          <p:cNvPr id="3" name="Picture 2">
            <a:extLst>
              <a:ext uri="{FF2B5EF4-FFF2-40B4-BE49-F238E27FC236}">
                <a16:creationId xmlns:a16="http://schemas.microsoft.com/office/drawing/2014/main" id="{464C6394-2575-C997-D4D6-1E658DD389E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125312" y="1973275"/>
            <a:ext cx="4057210" cy="3551350"/>
          </a:xfrm>
          <a:prstGeom prst="rect">
            <a:avLst/>
          </a:prstGeom>
        </p:spPr>
      </p:pic>
      <p:pic>
        <p:nvPicPr>
          <p:cNvPr id="2" name="Recorded Sound">
            <a:hlinkClick r:id="" action="ppaction://media"/>
            <a:extLst>
              <a:ext uri="{FF2B5EF4-FFF2-40B4-BE49-F238E27FC236}">
                <a16:creationId xmlns:a16="http://schemas.microsoft.com/office/drawing/2014/main" id="{9F1BEBDA-F546-DC80-ACFA-59DFF9BB6934}"/>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79248" y="73152"/>
            <a:ext cx="609600" cy="609600"/>
          </a:xfrm>
          <a:prstGeom prst="rect">
            <a:avLst/>
          </a:prstGeom>
        </p:spPr>
      </p:pic>
    </p:spTree>
    <p:custDataLst>
      <p:tags r:id="rId1"/>
    </p:custDataLst>
    <p:extLst>
      <p:ext uri="{BB962C8B-B14F-4D97-AF65-F5344CB8AC3E}">
        <p14:creationId xmlns:p14="http://schemas.microsoft.com/office/powerpoint/2010/main" val="4249540097"/>
      </p:ext>
    </p:extLst>
  </p:cSld>
  <p:clrMapOvr>
    <a:masterClrMapping/>
  </p:clrMapOvr>
  <mc:AlternateContent xmlns:mc="http://schemas.openxmlformats.org/markup-compatibility/2006" xmlns:p14="http://schemas.microsoft.com/office/powerpoint/2010/main">
    <mc:Choice Requires="p14">
      <p:transition spd="slow" p14:dur="2000" advTm="36386"/>
    </mc:Choice>
    <mc:Fallback xmlns="">
      <p:transition spd="slow" advTm="363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38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2A3CCEEF-CA8B-C9CA-CD73-2B6A125558AA}"/>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34F92B5F-683B-B64D-B615-CE9A92195D34}"/>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pic>
        <p:nvPicPr>
          <p:cNvPr id="197" name="Google Shape;197;g9504e29505_0_0" descr="Green Pace logo">
            <a:extLst>
              <a:ext uri="{FF2B5EF4-FFF2-40B4-BE49-F238E27FC236}">
                <a16:creationId xmlns:a16="http://schemas.microsoft.com/office/drawing/2014/main" id="{ED8C5F23-D871-D41B-75B1-1E98F557F9A8}"/>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
        <p:nvSpPr>
          <p:cNvPr id="5" name="Google Shape;196;g9504e29505_0_0">
            <a:extLst>
              <a:ext uri="{FF2B5EF4-FFF2-40B4-BE49-F238E27FC236}">
                <a16:creationId xmlns:a16="http://schemas.microsoft.com/office/drawing/2014/main" id="{CB2246B2-5BEC-26A8-0C7A-14D107D8EE60}"/>
              </a:ext>
            </a:extLst>
          </p:cNvPr>
          <p:cNvSpPr txBox="1">
            <a:spLocks noGrp="1"/>
          </p:cNvSpPr>
          <p:nvPr>
            <p:ph type="body" idx="1"/>
          </p:nvPr>
        </p:nvSpPr>
        <p:spPr>
          <a:xfrm>
            <a:off x="204830" y="1670898"/>
            <a:ext cx="7018930" cy="4024200"/>
          </a:xfrm>
          <a:prstGeom prst="rect">
            <a:avLst/>
          </a:prstGeom>
          <a:noFill/>
          <a:ln>
            <a:noFill/>
          </a:ln>
        </p:spPr>
        <p:txBody>
          <a:bodyPr spcFirstLastPara="1" wrap="square" lIns="91425" tIns="45700" rIns="91425" bIns="45700" anchor="t" anchorCtr="0">
            <a:noAutofit/>
          </a:bodyPr>
          <a:lstStyle/>
          <a:p>
            <a:pPr marL="114300" indent="0">
              <a:buNone/>
            </a:pPr>
            <a:r>
              <a:rPr lang="en-US" sz="2000" b="1" dirty="0"/>
              <a:t>Does an Excessive Capacity Request Trigger a Length Error?</a:t>
            </a:r>
          </a:p>
          <a:p>
            <a:pPr marL="114300" indent="0">
              <a:buNone/>
            </a:pPr>
            <a:endParaRPr lang="en-US" sz="2000" b="1" dirty="0"/>
          </a:p>
          <a:p>
            <a:pPr marL="114300" indent="0">
              <a:buNone/>
            </a:pPr>
            <a:r>
              <a:rPr lang="en-US" sz="1800" b="1" dirty="0"/>
              <a:t>Framework</a:t>
            </a:r>
            <a:r>
              <a:rPr lang="en-US" sz="1800" dirty="0"/>
              <a:t>: Google Test (TEST_F fixture)</a:t>
            </a:r>
          </a:p>
          <a:p>
            <a:pPr marL="114300" indent="0">
              <a:buNone/>
            </a:pPr>
            <a:r>
              <a:rPr lang="en-US" sz="1800" b="1" dirty="0"/>
              <a:t>Security Standard</a:t>
            </a:r>
            <a:r>
              <a:rPr lang="en-US" sz="1800" dirty="0"/>
              <a:t>: STD-007 - Exception Handling</a:t>
            </a:r>
          </a:p>
          <a:p>
            <a:pPr marL="114300" indent="0">
              <a:buNone/>
            </a:pPr>
            <a:r>
              <a:rPr lang="en-US" sz="1800" b="1" dirty="0"/>
              <a:t>Objective</a:t>
            </a:r>
            <a:r>
              <a:rPr lang="en-US" sz="1800" dirty="0"/>
              <a:t>: Verify that requesting capacity beyond a vector’s </a:t>
            </a:r>
            <a:r>
              <a:rPr lang="en-US" sz="1800" dirty="0" err="1"/>
              <a:t>max_size</a:t>
            </a:r>
            <a:r>
              <a:rPr lang="en-US" sz="1800" dirty="0"/>
              <a:t>() throws a std::</a:t>
            </a:r>
            <a:r>
              <a:rPr lang="en-US" sz="1800" dirty="0" err="1"/>
              <a:t>length_error</a:t>
            </a:r>
            <a:r>
              <a:rPr lang="en-US" sz="1800" dirty="0"/>
              <a:t> exception.</a:t>
            </a:r>
          </a:p>
          <a:p>
            <a:pPr marL="114300" indent="0">
              <a:buNone/>
            </a:pPr>
            <a:r>
              <a:rPr lang="en-US" sz="1800" b="1" dirty="0"/>
              <a:t>Assertions</a:t>
            </a:r>
            <a:r>
              <a:rPr lang="en-US" sz="1800" dirty="0"/>
              <a:t>: EXPECT_THROW, EXPECT_EQ, EXPECT_TRUE</a:t>
            </a:r>
          </a:p>
          <a:p>
            <a:pPr marL="114300" indent="0">
              <a:buNone/>
            </a:pPr>
            <a:r>
              <a:rPr lang="en-US" sz="1800" b="1" dirty="0"/>
              <a:t>Result</a:t>
            </a:r>
            <a:r>
              <a:rPr lang="en-US" sz="1800" dirty="0"/>
              <a:t>: Passed – The excessive capacity request triggered the expected exception, and the collection remained unchanged.</a:t>
            </a:r>
          </a:p>
          <a:p>
            <a:pPr marL="114300" indent="0">
              <a:buNone/>
            </a:pPr>
            <a:r>
              <a:rPr lang="en-US" sz="1800" b="1" dirty="0"/>
              <a:t>Further</a:t>
            </a:r>
            <a:r>
              <a:rPr lang="en-US" sz="1800" dirty="0"/>
              <a:t> </a:t>
            </a:r>
            <a:r>
              <a:rPr lang="en-US" sz="1800" b="1" dirty="0"/>
              <a:t>testing</a:t>
            </a:r>
            <a:r>
              <a:rPr lang="en-US" sz="1800" dirty="0"/>
              <a:t>: Test valid capacity requests and boundary conditions without attempting impractically large allocations.</a:t>
            </a:r>
          </a:p>
        </p:txBody>
      </p:sp>
      <p:pic>
        <p:nvPicPr>
          <p:cNvPr id="3" name="Picture 2">
            <a:extLst>
              <a:ext uri="{FF2B5EF4-FFF2-40B4-BE49-F238E27FC236}">
                <a16:creationId xmlns:a16="http://schemas.microsoft.com/office/drawing/2014/main" id="{CA16577C-2DA2-C263-7AF4-1C6BC1657F37}"/>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276511" y="2057373"/>
            <a:ext cx="4039777" cy="3244300"/>
          </a:xfrm>
          <a:prstGeom prst="rect">
            <a:avLst/>
          </a:prstGeom>
        </p:spPr>
      </p:pic>
      <p:pic>
        <p:nvPicPr>
          <p:cNvPr id="2" name="Recorded Sound">
            <a:hlinkClick r:id="" action="ppaction://media"/>
            <a:extLst>
              <a:ext uri="{FF2B5EF4-FFF2-40B4-BE49-F238E27FC236}">
                <a16:creationId xmlns:a16="http://schemas.microsoft.com/office/drawing/2014/main" id="{E1F83D86-BD12-30B3-D819-63D0F6BDA06E}"/>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73152" y="72477"/>
            <a:ext cx="609600" cy="609600"/>
          </a:xfrm>
          <a:prstGeom prst="rect">
            <a:avLst/>
          </a:prstGeom>
        </p:spPr>
      </p:pic>
    </p:spTree>
    <p:custDataLst>
      <p:tags r:id="rId1"/>
    </p:custDataLst>
    <p:extLst>
      <p:ext uri="{BB962C8B-B14F-4D97-AF65-F5344CB8AC3E}">
        <p14:creationId xmlns:p14="http://schemas.microsoft.com/office/powerpoint/2010/main" val="3182238993"/>
      </p:ext>
    </p:extLst>
  </p:cSld>
  <p:clrMapOvr>
    <a:masterClrMapping/>
  </p:clrMapOvr>
  <mc:AlternateContent xmlns:mc="http://schemas.openxmlformats.org/markup-compatibility/2006" xmlns:p14="http://schemas.microsoft.com/office/powerpoint/2010/main">
    <mc:Choice Requires="p14">
      <p:transition spd="slow" p14:dur="2000" advTm="33051"/>
    </mc:Choice>
    <mc:Fallback xmlns="">
      <p:transition spd="slow" advTm="330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05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51ABADE5-D592-CFB7-6B88-096AC47200B7}"/>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2FF76A8B-0547-D22F-92A6-EB8FB110B036}"/>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pic>
        <p:nvPicPr>
          <p:cNvPr id="197" name="Google Shape;197;g9504e29505_0_0" descr="Green Pace logo">
            <a:extLst>
              <a:ext uri="{FF2B5EF4-FFF2-40B4-BE49-F238E27FC236}">
                <a16:creationId xmlns:a16="http://schemas.microsoft.com/office/drawing/2014/main" id="{E25DE65A-9FA3-A19A-3536-7973C6BFED69}"/>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
        <p:nvSpPr>
          <p:cNvPr id="5" name="Google Shape;196;g9504e29505_0_0">
            <a:extLst>
              <a:ext uri="{FF2B5EF4-FFF2-40B4-BE49-F238E27FC236}">
                <a16:creationId xmlns:a16="http://schemas.microsoft.com/office/drawing/2014/main" id="{539B45EF-5310-CEBF-D43F-33B718323409}"/>
              </a:ext>
            </a:extLst>
          </p:cNvPr>
          <p:cNvSpPr txBox="1">
            <a:spLocks noGrp="1"/>
          </p:cNvSpPr>
          <p:nvPr>
            <p:ph type="body" idx="1"/>
          </p:nvPr>
        </p:nvSpPr>
        <p:spPr>
          <a:xfrm>
            <a:off x="204830" y="1609938"/>
            <a:ext cx="7018930" cy="4024200"/>
          </a:xfrm>
          <a:prstGeom prst="rect">
            <a:avLst/>
          </a:prstGeom>
          <a:noFill/>
          <a:ln>
            <a:noFill/>
          </a:ln>
        </p:spPr>
        <p:txBody>
          <a:bodyPr spcFirstLastPara="1" wrap="square" lIns="91425" tIns="45700" rIns="91425" bIns="45700" anchor="t" anchorCtr="0">
            <a:noAutofit/>
          </a:bodyPr>
          <a:lstStyle/>
          <a:p>
            <a:pPr marL="114300" indent="0">
              <a:buNone/>
            </a:pPr>
            <a:r>
              <a:rPr lang="en-US" sz="2000" b="1" dirty="0"/>
              <a:t>Can a Vector Be Resized Without Losing Existing Values?</a:t>
            </a:r>
          </a:p>
          <a:p>
            <a:pPr marL="114300" indent="0">
              <a:buNone/>
            </a:pPr>
            <a:endParaRPr lang="en-US" sz="2000" b="1" dirty="0"/>
          </a:p>
          <a:p>
            <a:pPr marL="114300" indent="0">
              <a:buNone/>
            </a:pPr>
            <a:r>
              <a:rPr lang="en-US" sz="1800" b="1" dirty="0"/>
              <a:t>Framework</a:t>
            </a:r>
            <a:r>
              <a:rPr lang="en-US" sz="1800" dirty="0"/>
              <a:t>: Google Test (TEST_F fixture)</a:t>
            </a:r>
          </a:p>
          <a:p>
            <a:pPr marL="114300" indent="0">
              <a:buNone/>
            </a:pPr>
            <a:r>
              <a:rPr lang="en-US" sz="1800" b="1" dirty="0"/>
              <a:t>Security Principle</a:t>
            </a:r>
            <a:r>
              <a:rPr lang="en-US" sz="1800" dirty="0"/>
              <a:t>: Use Effective Quality Assurance Techniques</a:t>
            </a:r>
            <a:endParaRPr lang="en-US" sz="1800" b="1" dirty="0"/>
          </a:p>
          <a:p>
            <a:pPr marL="114300" indent="0">
              <a:buNone/>
            </a:pPr>
            <a:r>
              <a:rPr lang="en-US" sz="1800" b="1" dirty="0"/>
              <a:t>Objective</a:t>
            </a:r>
            <a:r>
              <a:rPr lang="en-US" sz="1800" dirty="0"/>
              <a:t>: Verify that increasing a vector’s size preserves the existing values and initializes new elements correctly.</a:t>
            </a:r>
          </a:p>
          <a:p>
            <a:pPr marL="114300" indent="0">
              <a:buNone/>
            </a:pPr>
            <a:r>
              <a:rPr lang="en-US" sz="1800" b="1" dirty="0"/>
              <a:t>Assertions</a:t>
            </a:r>
            <a:r>
              <a:rPr lang="en-US" sz="1800" dirty="0"/>
              <a:t>: ASSERT_EQ, EXPECT_EQ</a:t>
            </a:r>
          </a:p>
          <a:p>
            <a:pPr marL="114300" indent="0">
              <a:buNone/>
            </a:pPr>
            <a:r>
              <a:rPr lang="en-US" sz="1800" b="1" dirty="0"/>
              <a:t>Result</a:t>
            </a:r>
            <a:r>
              <a:rPr lang="en-US" sz="1800" dirty="0"/>
              <a:t>: Passed – Vector size increased from 5 to 10, existing values were preserved, new elements were initialized to zero.</a:t>
            </a:r>
          </a:p>
          <a:p>
            <a:pPr marL="114300" indent="0">
              <a:buNone/>
            </a:pPr>
            <a:r>
              <a:rPr lang="en-US" sz="1800" b="1" dirty="0"/>
              <a:t>Further</a:t>
            </a:r>
            <a:r>
              <a:rPr lang="en-US" sz="1800" dirty="0"/>
              <a:t> </a:t>
            </a:r>
            <a:r>
              <a:rPr lang="en-US" sz="1800" b="1" dirty="0"/>
              <a:t>testing</a:t>
            </a:r>
            <a:r>
              <a:rPr lang="en-US" sz="1800" dirty="0"/>
              <a:t>: Test resizing to smaller size and to zero, verifying remaining values are preserved and removed elements no longer accessible.</a:t>
            </a:r>
          </a:p>
        </p:txBody>
      </p:sp>
      <p:pic>
        <p:nvPicPr>
          <p:cNvPr id="3" name="Picture 2">
            <a:extLst>
              <a:ext uri="{FF2B5EF4-FFF2-40B4-BE49-F238E27FC236}">
                <a16:creationId xmlns:a16="http://schemas.microsoft.com/office/drawing/2014/main" id="{4F84F145-A76E-2D0F-4F1A-18441204554F}"/>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239001" y="1837084"/>
            <a:ext cx="4061404" cy="3603442"/>
          </a:xfrm>
          <a:prstGeom prst="rect">
            <a:avLst/>
          </a:prstGeom>
        </p:spPr>
      </p:pic>
      <p:pic>
        <p:nvPicPr>
          <p:cNvPr id="2" name="Recorded Sound">
            <a:hlinkClick r:id="" action="ppaction://media"/>
            <a:extLst>
              <a:ext uri="{FF2B5EF4-FFF2-40B4-BE49-F238E27FC236}">
                <a16:creationId xmlns:a16="http://schemas.microsoft.com/office/drawing/2014/main" id="{CEA59DA7-BF71-6E57-0F10-49F49C9D9C74}"/>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76814" y="72477"/>
            <a:ext cx="609600" cy="609600"/>
          </a:xfrm>
          <a:prstGeom prst="rect">
            <a:avLst/>
          </a:prstGeom>
        </p:spPr>
      </p:pic>
    </p:spTree>
    <p:custDataLst>
      <p:tags r:id="rId1"/>
    </p:custDataLst>
    <p:extLst>
      <p:ext uri="{BB962C8B-B14F-4D97-AF65-F5344CB8AC3E}">
        <p14:creationId xmlns:p14="http://schemas.microsoft.com/office/powerpoint/2010/main" val="3629027450"/>
      </p:ext>
    </p:extLst>
  </p:cSld>
  <p:clrMapOvr>
    <a:masterClrMapping/>
  </p:clrMapOvr>
  <mc:AlternateContent xmlns:mc="http://schemas.openxmlformats.org/markup-compatibility/2006" xmlns:p14="http://schemas.microsoft.com/office/powerpoint/2010/main">
    <mc:Choice Requires="p14">
      <p:transition spd="slow" p14:dur="2000" advTm="32752"/>
    </mc:Choice>
    <mc:Fallback xmlns="">
      <p:transition spd="slow" advTm="327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75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E0FE27F5-5287-B862-510A-7579AFCEDC1A}"/>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60960" y="63333"/>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0235"/>
    </mc:Choice>
    <mc:Fallback xmlns="">
      <p:transition spd="slow" advTm="602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23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487680" y="2057401"/>
            <a:ext cx="10820400" cy="4024125"/>
          </a:xfrm>
          <a:prstGeom prst="rect">
            <a:avLst/>
          </a:prstGeom>
          <a:noFill/>
          <a:ln>
            <a:noFill/>
          </a:ln>
        </p:spPr>
        <p:txBody>
          <a:bodyPr spcFirstLastPara="1" wrap="square" lIns="91425" tIns="45700" rIns="91425" bIns="45700" anchor="t" anchorCtr="0">
            <a:normAutofit fontScale="92500"/>
          </a:bodyPr>
          <a:lstStyle/>
          <a:p>
            <a:pPr marL="457200" lvl="1" indent="0" algn="l" rtl="0">
              <a:lnSpc>
                <a:spcPct val="90000"/>
              </a:lnSpc>
              <a:spcBef>
                <a:spcPts val="0"/>
              </a:spcBef>
              <a:spcAft>
                <a:spcPts val="0"/>
              </a:spcAft>
              <a:buClr>
                <a:schemeClr val="lt1"/>
              </a:buClr>
              <a:buSzPts val="2000"/>
              <a:buNone/>
            </a:pPr>
            <a:r>
              <a:rPr lang="en-US" sz="2400" b="1" dirty="0"/>
              <a:t>Development, Security, and Operations (</a:t>
            </a:r>
            <a:r>
              <a:rPr lang="en-US" sz="2400" b="1" dirty="0" err="1"/>
              <a:t>DevSecOps</a:t>
            </a:r>
            <a:r>
              <a:rPr lang="en-US" sz="2400" b="1" dirty="0"/>
              <a:t>)</a:t>
            </a:r>
          </a:p>
          <a:p>
            <a:pPr marL="457200" lvl="1" indent="0" algn="l" rtl="0">
              <a:lnSpc>
                <a:spcPct val="90000"/>
              </a:lnSpc>
              <a:spcBef>
                <a:spcPts val="0"/>
              </a:spcBef>
              <a:spcAft>
                <a:spcPts val="0"/>
              </a:spcAft>
              <a:buClr>
                <a:schemeClr val="lt1"/>
              </a:buClr>
              <a:buSzPts val="2000"/>
              <a:buNone/>
            </a:pPr>
            <a:endParaRPr lang="en-US" sz="2400" dirty="0"/>
          </a:p>
          <a:p>
            <a:pPr marL="742950" lvl="1" indent="-285750">
              <a:spcBef>
                <a:spcPts val="0"/>
              </a:spcBef>
              <a:buSzPts val="2000"/>
            </a:pPr>
            <a:r>
              <a:rPr lang="en-US" sz="1800" dirty="0"/>
              <a:t>An approach to the SDLC that integrates security, testing, and automation across all phases of development.</a:t>
            </a:r>
          </a:p>
          <a:p>
            <a:pPr marL="742950" lvl="1" indent="-285750">
              <a:spcBef>
                <a:spcPts val="0"/>
              </a:spcBef>
              <a:buSzPts val="2000"/>
            </a:pPr>
            <a:endParaRPr lang="en-US" sz="1800" dirty="0"/>
          </a:p>
          <a:p>
            <a:pPr marL="457200" lvl="1" indent="0">
              <a:spcBef>
                <a:spcPts val="0"/>
              </a:spcBef>
              <a:buSzPts val="2000"/>
              <a:buNone/>
            </a:pPr>
            <a:r>
              <a:rPr lang="en-US" sz="2400" b="1" dirty="0"/>
              <a:t>Tools</a:t>
            </a:r>
          </a:p>
          <a:p>
            <a:pPr marL="457200" lvl="1" indent="0">
              <a:spcBef>
                <a:spcPts val="0"/>
              </a:spcBef>
              <a:buSzPts val="2000"/>
              <a:buNone/>
            </a:pPr>
            <a:endParaRPr lang="en-US" sz="1800" b="1" dirty="0"/>
          </a:p>
          <a:p>
            <a:pPr marL="742950" lvl="1" indent="-285750">
              <a:spcBef>
                <a:spcPts val="0"/>
              </a:spcBef>
              <a:buSzPts val="2000"/>
            </a:pPr>
            <a:r>
              <a:rPr lang="en-US" sz="1800" b="1" dirty="0" err="1"/>
              <a:t>Cppcheck</a:t>
            </a:r>
            <a:r>
              <a:rPr lang="en-US" sz="1800" b="1" dirty="0"/>
              <a:t> </a:t>
            </a:r>
            <a:r>
              <a:rPr lang="en-US" sz="1800" dirty="0"/>
              <a:t>– Through static analysis can detect potential C++ errors, unsafe operations, and coding-standard violations.</a:t>
            </a:r>
          </a:p>
          <a:p>
            <a:pPr marL="742950" lvl="1" indent="-285750">
              <a:spcBef>
                <a:spcPts val="0"/>
              </a:spcBef>
              <a:buSzPts val="2000"/>
            </a:pPr>
            <a:r>
              <a:rPr lang="en-US" sz="1800" b="1" dirty="0"/>
              <a:t>Visual Studio Code Analysis </a:t>
            </a:r>
            <a:r>
              <a:rPr lang="en-US" sz="1800" dirty="0"/>
              <a:t>– Static analysis by way of compiler-integrated warnings and security related diagnostics.</a:t>
            </a:r>
          </a:p>
          <a:p>
            <a:pPr marL="742950" lvl="1" indent="-285750">
              <a:spcBef>
                <a:spcPts val="0"/>
              </a:spcBef>
              <a:buSzPts val="2000"/>
            </a:pPr>
            <a:r>
              <a:rPr lang="en-US" sz="1800" b="1" dirty="0"/>
              <a:t>Google Test</a:t>
            </a:r>
            <a:r>
              <a:rPr lang="en-US" sz="1800" dirty="0"/>
              <a:t> – Unit testing that automates positive and negative C++ tests through assertions.</a:t>
            </a:r>
          </a:p>
          <a:p>
            <a:pPr marL="742950" lvl="1" indent="-285750">
              <a:spcBef>
                <a:spcPts val="0"/>
              </a:spcBef>
              <a:buSzPts val="2000"/>
            </a:pPr>
            <a:r>
              <a:rPr lang="en-US" sz="1800" b="1" dirty="0" err="1"/>
              <a:t>CMake</a:t>
            </a:r>
            <a:r>
              <a:rPr lang="en-US" sz="1800" b="1" dirty="0"/>
              <a:t> / CLion </a:t>
            </a:r>
            <a:r>
              <a:rPr lang="en-US" sz="1800" dirty="0"/>
              <a:t>– Build and test, configures, compiles, and executes existing C++ projects.</a:t>
            </a:r>
          </a:p>
          <a:p>
            <a:pPr marL="742950" lvl="1" indent="-285750">
              <a:spcBef>
                <a:spcPts val="0"/>
              </a:spcBef>
              <a:buSzPts val="2000"/>
            </a:pPr>
            <a:r>
              <a:rPr lang="en-US" sz="1800" b="1" dirty="0"/>
              <a:t>CI/CD platform </a:t>
            </a:r>
            <a:r>
              <a:rPr lang="en-US" sz="1800" dirty="0"/>
              <a:t>– Pipeline orchestration to automatically run checks when developers submit code changes. Reports failures and can block deployment until issues are resolved.</a:t>
            </a:r>
            <a:endParaRPr sz="1800" b="1" dirty="0"/>
          </a:p>
        </p:txBody>
      </p:sp>
      <p:pic>
        <p:nvPicPr>
          <p:cNvPr id="211" name="Google Shape;211;p10"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E4FDF817-F6CC-ECDB-67B1-9FEB9D173359}"/>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4864" y="54189"/>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8977"/>
    </mc:Choice>
    <mc:Fallback xmlns="">
      <p:transition spd="slow" advTm="689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897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pic>
        <p:nvPicPr>
          <p:cNvPr id="218" name="Google Shape;218;p11"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graphicFrame>
        <p:nvGraphicFramePr>
          <p:cNvPr id="6" name="Table 5">
            <a:extLst>
              <a:ext uri="{FF2B5EF4-FFF2-40B4-BE49-F238E27FC236}">
                <a16:creationId xmlns:a16="http://schemas.microsoft.com/office/drawing/2014/main" id="{C2228DE1-4365-5E8C-3BEE-A999ECAA0DE5}"/>
              </a:ext>
            </a:extLst>
          </p:cNvPr>
          <p:cNvGraphicFramePr>
            <a:graphicFrameLocks noGrp="1"/>
          </p:cNvGraphicFramePr>
          <p:nvPr>
            <p:extLst>
              <p:ext uri="{D42A27DB-BD31-4B8C-83A1-F6EECF244321}">
                <p14:modId xmlns:p14="http://schemas.microsoft.com/office/powerpoint/2010/main" val="2074807763"/>
              </p:ext>
            </p:extLst>
          </p:nvPr>
        </p:nvGraphicFramePr>
        <p:xfrm>
          <a:off x="858520" y="2280920"/>
          <a:ext cx="9474200" cy="3698443"/>
        </p:xfrm>
        <a:graphic>
          <a:graphicData uri="http://schemas.openxmlformats.org/drawingml/2006/table">
            <a:tbl>
              <a:tblPr firstRow="1" bandRow="1">
                <a:tableStyleId>{802198C4-3087-4945-87E3-76CBB3509B7E}</a:tableStyleId>
              </a:tblPr>
              <a:tblGrid>
                <a:gridCol w="2368550">
                  <a:extLst>
                    <a:ext uri="{9D8B030D-6E8A-4147-A177-3AD203B41FA5}">
                      <a16:colId xmlns:a16="http://schemas.microsoft.com/office/drawing/2014/main" val="1392478041"/>
                    </a:ext>
                  </a:extLst>
                </a:gridCol>
                <a:gridCol w="2368550">
                  <a:extLst>
                    <a:ext uri="{9D8B030D-6E8A-4147-A177-3AD203B41FA5}">
                      <a16:colId xmlns:a16="http://schemas.microsoft.com/office/drawing/2014/main" val="858577162"/>
                    </a:ext>
                  </a:extLst>
                </a:gridCol>
                <a:gridCol w="2368550">
                  <a:extLst>
                    <a:ext uri="{9D8B030D-6E8A-4147-A177-3AD203B41FA5}">
                      <a16:colId xmlns:a16="http://schemas.microsoft.com/office/drawing/2014/main" val="708679695"/>
                    </a:ext>
                  </a:extLst>
                </a:gridCol>
                <a:gridCol w="2368550">
                  <a:extLst>
                    <a:ext uri="{9D8B030D-6E8A-4147-A177-3AD203B41FA5}">
                      <a16:colId xmlns:a16="http://schemas.microsoft.com/office/drawing/2014/main" val="3214672072"/>
                    </a:ext>
                  </a:extLst>
                </a:gridCol>
              </a:tblGrid>
              <a:tr h="589078">
                <a:tc>
                  <a:txBody>
                    <a:bodyPr/>
                    <a:lstStyle/>
                    <a:p>
                      <a:r>
                        <a:rPr lang="en-US" sz="2000" b="1" dirty="0">
                          <a:solidFill>
                            <a:schemeClr val="bg1"/>
                          </a:solidFill>
                        </a:rPr>
                        <a:t>Problems</a:t>
                      </a:r>
                    </a:p>
                  </a:txBody>
                  <a:tcPr/>
                </a:tc>
                <a:tc>
                  <a:txBody>
                    <a:bodyPr/>
                    <a:lstStyle/>
                    <a:p>
                      <a:r>
                        <a:rPr lang="en-US" sz="2000" b="1" dirty="0">
                          <a:solidFill>
                            <a:schemeClr val="bg1"/>
                          </a:solidFill>
                        </a:rPr>
                        <a:t>Solutions</a:t>
                      </a:r>
                    </a:p>
                  </a:txBody>
                  <a:tcPr/>
                </a:tc>
                <a:tc>
                  <a:txBody>
                    <a:bodyPr/>
                    <a:lstStyle/>
                    <a:p>
                      <a:r>
                        <a:rPr lang="en-US" sz="2000" b="1" dirty="0">
                          <a:solidFill>
                            <a:schemeClr val="bg1"/>
                          </a:solidFill>
                        </a:rPr>
                        <a:t>Act Now</a:t>
                      </a:r>
                    </a:p>
                  </a:txBody>
                  <a:tcPr/>
                </a:tc>
                <a:tc>
                  <a:txBody>
                    <a:bodyPr/>
                    <a:lstStyle/>
                    <a:p>
                      <a:r>
                        <a:rPr lang="en-US" sz="2000" b="1" dirty="0">
                          <a:solidFill>
                            <a:schemeClr val="bg1"/>
                          </a:solidFill>
                        </a:rPr>
                        <a:t>Wait</a:t>
                      </a:r>
                    </a:p>
                  </a:txBody>
                  <a:tcPr/>
                </a:tc>
                <a:extLst>
                  <a:ext uri="{0D108BD9-81ED-4DB2-BD59-A6C34878D82A}">
                    <a16:rowId xmlns:a16="http://schemas.microsoft.com/office/drawing/2014/main" val="1007525739"/>
                  </a:ext>
                </a:extLst>
              </a:tr>
              <a:tr h="823095">
                <a:tc>
                  <a:txBody>
                    <a:bodyPr/>
                    <a:lstStyle/>
                    <a:p>
                      <a:r>
                        <a:rPr lang="en-US" sz="1800" dirty="0">
                          <a:solidFill>
                            <a:schemeClr val="bg1"/>
                          </a:solidFill>
                        </a:rPr>
                        <a:t>Inconsistent security practices</a:t>
                      </a:r>
                    </a:p>
                  </a:txBody>
                  <a:tcPr/>
                </a:tc>
                <a:tc>
                  <a:txBody>
                    <a:bodyPr/>
                    <a:lstStyle/>
                    <a:p>
                      <a:r>
                        <a:rPr lang="en-US" sz="1800" dirty="0">
                          <a:solidFill>
                            <a:schemeClr val="bg1"/>
                          </a:solidFill>
                        </a:rPr>
                        <a:t>Enforce coding standards</a:t>
                      </a:r>
                    </a:p>
                  </a:txBody>
                  <a:tcPr/>
                </a:tc>
                <a:tc>
                  <a:txBody>
                    <a:bodyPr/>
                    <a:lstStyle/>
                    <a:p>
                      <a:r>
                        <a:rPr lang="en-US" sz="1800" dirty="0">
                          <a:solidFill>
                            <a:schemeClr val="bg1"/>
                          </a:solidFill>
                        </a:rPr>
                        <a:t>Earlier detection</a:t>
                      </a:r>
                    </a:p>
                  </a:txBody>
                  <a:tcPr/>
                </a:tc>
                <a:tc>
                  <a:txBody>
                    <a:bodyPr/>
                    <a:lstStyle/>
                    <a:p>
                      <a:r>
                        <a:rPr lang="en-US" sz="1800" dirty="0">
                          <a:solidFill>
                            <a:schemeClr val="bg1"/>
                          </a:solidFill>
                        </a:rPr>
                        <a:t>Lower immediate costs</a:t>
                      </a:r>
                    </a:p>
                  </a:txBody>
                  <a:tcPr/>
                </a:tc>
                <a:extLst>
                  <a:ext uri="{0D108BD9-81ED-4DB2-BD59-A6C34878D82A}">
                    <a16:rowId xmlns:a16="http://schemas.microsoft.com/office/drawing/2014/main" val="2880747783"/>
                  </a:ext>
                </a:extLst>
              </a:tr>
              <a:tr h="823095">
                <a:tc>
                  <a:txBody>
                    <a:bodyPr/>
                    <a:lstStyle/>
                    <a:p>
                      <a:r>
                        <a:rPr lang="en-US" sz="1800" dirty="0">
                          <a:solidFill>
                            <a:schemeClr val="bg1"/>
                          </a:solidFill>
                        </a:rPr>
                        <a:t>Undetected vulnerabilities</a:t>
                      </a:r>
                    </a:p>
                  </a:txBody>
                  <a:tcPr/>
                </a:tc>
                <a:tc>
                  <a:txBody>
                    <a:bodyPr/>
                    <a:lstStyle/>
                    <a:p>
                      <a:r>
                        <a:rPr lang="en-US" sz="1800" dirty="0">
                          <a:solidFill>
                            <a:schemeClr val="bg1"/>
                          </a:solidFill>
                        </a:rPr>
                        <a:t>Integrate automated testing</a:t>
                      </a:r>
                    </a:p>
                  </a:txBody>
                  <a:tcPr/>
                </a:tc>
                <a:tc>
                  <a:txBody>
                    <a:bodyPr/>
                    <a:lstStyle/>
                    <a:p>
                      <a:r>
                        <a:rPr lang="en-US" sz="1800" dirty="0">
                          <a:solidFill>
                            <a:schemeClr val="bg1"/>
                          </a:solidFill>
                        </a:rPr>
                        <a:t>Lower long-term remediation costs</a:t>
                      </a:r>
                    </a:p>
                  </a:txBody>
                  <a:tcPr/>
                </a:tc>
                <a:tc>
                  <a:txBody>
                    <a:bodyPr/>
                    <a:lstStyle/>
                    <a:p>
                      <a:r>
                        <a:rPr lang="en-US" sz="1800" dirty="0">
                          <a:solidFill>
                            <a:schemeClr val="bg1"/>
                          </a:solidFill>
                        </a:rPr>
                        <a:t>Continued exposure</a:t>
                      </a:r>
                    </a:p>
                  </a:txBody>
                  <a:tcPr/>
                </a:tc>
                <a:extLst>
                  <a:ext uri="{0D108BD9-81ED-4DB2-BD59-A6C34878D82A}">
                    <a16:rowId xmlns:a16="http://schemas.microsoft.com/office/drawing/2014/main" val="2828003778"/>
                  </a:ext>
                </a:extLst>
              </a:tr>
              <a:tr h="823095">
                <a:tc>
                  <a:txBody>
                    <a:bodyPr/>
                    <a:lstStyle/>
                    <a:p>
                      <a:r>
                        <a:rPr lang="en-US" sz="1800" dirty="0">
                          <a:solidFill>
                            <a:schemeClr val="bg1"/>
                          </a:solidFill>
                        </a:rPr>
                        <a:t>Limited testing coverage</a:t>
                      </a:r>
                    </a:p>
                  </a:txBody>
                  <a:tcPr/>
                </a:tc>
                <a:tc>
                  <a:txBody>
                    <a:bodyPr/>
                    <a:lstStyle/>
                    <a:p>
                      <a:r>
                        <a:rPr lang="en-US" sz="1800" dirty="0">
                          <a:solidFill>
                            <a:schemeClr val="bg1"/>
                          </a:solidFill>
                        </a:rPr>
                        <a:t>Combine analysis tools</a:t>
                      </a:r>
                    </a:p>
                  </a:txBody>
                  <a:tcPr/>
                </a:tc>
                <a:tc>
                  <a:txBody>
                    <a:bodyPr/>
                    <a:lstStyle/>
                    <a:p>
                      <a:r>
                        <a:rPr lang="en-US" sz="1800" dirty="0">
                          <a:solidFill>
                            <a:schemeClr val="bg1"/>
                          </a:solidFill>
                        </a:rPr>
                        <a:t>Improved reliability</a:t>
                      </a:r>
                    </a:p>
                  </a:txBody>
                  <a:tcPr/>
                </a:tc>
                <a:tc>
                  <a:txBody>
                    <a:bodyPr/>
                    <a:lstStyle/>
                    <a:p>
                      <a:r>
                        <a:rPr lang="en-US" sz="1800" dirty="0">
                          <a:solidFill>
                            <a:schemeClr val="bg1"/>
                          </a:solidFill>
                        </a:rPr>
                        <a:t>Costlier future fixes</a:t>
                      </a:r>
                    </a:p>
                  </a:txBody>
                  <a:tcPr/>
                </a:tc>
                <a:extLst>
                  <a:ext uri="{0D108BD9-81ED-4DB2-BD59-A6C34878D82A}">
                    <a16:rowId xmlns:a16="http://schemas.microsoft.com/office/drawing/2014/main" val="3192295783"/>
                  </a:ext>
                </a:extLst>
              </a:tr>
              <a:tr h="589078">
                <a:tc>
                  <a:txBody>
                    <a:bodyPr/>
                    <a:lstStyle/>
                    <a:p>
                      <a:r>
                        <a:rPr lang="en-US" sz="1800" dirty="0">
                          <a:solidFill>
                            <a:schemeClr val="bg1"/>
                          </a:solidFill>
                        </a:rPr>
                        <a:t>Late defect discovery</a:t>
                      </a:r>
                    </a:p>
                  </a:txBody>
                  <a:tcPr/>
                </a:tc>
                <a:tc>
                  <a:txBody>
                    <a:bodyPr/>
                    <a:lstStyle/>
                    <a:p>
                      <a:r>
                        <a:rPr lang="en-US" sz="1800" dirty="0">
                          <a:solidFill>
                            <a:schemeClr val="bg1"/>
                          </a:solidFill>
                        </a:rPr>
                        <a:t>Train developers</a:t>
                      </a:r>
                    </a:p>
                  </a:txBody>
                  <a:tcPr/>
                </a:tc>
                <a:tc>
                  <a:txBody>
                    <a:bodyPr/>
                    <a:lstStyle/>
                    <a:p>
                      <a:r>
                        <a:rPr lang="en-US" sz="1800" dirty="0">
                          <a:solidFill>
                            <a:schemeClr val="bg1"/>
                          </a:solidFill>
                        </a:rPr>
                        <a:t>Upfront costs and training</a:t>
                      </a:r>
                    </a:p>
                  </a:txBody>
                  <a:tcPr/>
                </a:tc>
                <a:tc>
                  <a:txBody>
                    <a:bodyPr/>
                    <a:lstStyle/>
                    <a:p>
                      <a:r>
                        <a:rPr lang="en-US" sz="1800" dirty="0">
                          <a:solidFill>
                            <a:schemeClr val="bg1"/>
                          </a:solidFill>
                        </a:rPr>
                        <a:t>Potential security incidents</a:t>
                      </a:r>
                    </a:p>
                  </a:txBody>
                  <a:tcPr/>
                </a:tc>
                <a:extLst>
                  <a:ext uri="{0D108BD9-81ED-4DB2-BD59-A6C34878D82A}">
                    <a16:rowId xmlns:a16="http://schemas.microsoft.com/office/drawing/2014/main" val="1981814453"/>
                  </a:ext>
                </a:extLst>
              </a:tr>
            </a:tbl>
          </a:graphicData>
        </a:graphic>
      </p:graphicFrame>
      <p:pic>
        <p:nvPicPr>
          <p:cNvPr id="2" name="Recorded Sound">
            <a:hlinkClick r:id="" action="ppaction://media"/>
            <a:extLst>
              <a:ext uri="{FF2B5EF4-FFF2-40B4-BE49-F238E27FC236}">
                <a16:creationId xmlns:a16="http://schemas.microsoft.com/office/drawing/2014/main" id="{D989AB8C-5781-2FC6-F861-124D27C2D266}"/>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79248" y="45720"/>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3540"/>
    </mc:Choice>
    <mc:Fallback xmlns="">
      <p:transition spd="slow" advTm="63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354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pic>
        <p:nvPicPr>
          <p:cNvPr id="225" name="Google Shape;225;p12"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graphicFrame>
        <p:nvGraphicFramePr>
          <p:cNvPr id="5" name="Table 4">
            <a:extLst>
              <a:ext uri="{FF2B5EF4-FFF2-40B4-BE49-F238E27FC236}">
                <a16:creationId xmlns:a16="http://schemas.microsoft.com/office/drawing/2014/main" id="{7764F17F-C47C-1B1C-B94E-5F6CE51F9B16}"/>
              </a:ext>
            </a:extLst>
          </p:cNvPr>
          <p:cNvGraphicFramePr>
            <a:graphicFrameLocks noGrp="1"/>
          </p:cNvGraphicFramePr>
          <p:nvPr>
            <p:extLst>
              <p:ext uri="{D42A27DB-BD31-4B8C-83A1-F6EECF244321}">
                <p14:modId xmlns:p14="http://schemas.microsoft.com/office/powerpoint/2010/main" val="2985036517"/>
              </p:ext>
            </p:extLst>
          </p:nvPr>
        </p:nvGraphicFramePr>
        <p:xfrm>
          <a:off x="1031239" y="2057401"/>
          <a:ext cx="8940801" cy="4342437"/>
        </p:xfrm>
        <a:graphic>
          <a:graphicData uri="http://schemas.openxmlformats.org/drawingml/2006/table">
            <a:tbl>
              <a:tblPr firstRow="1" bandRow="1">
                <a:tableStyleId>{802198C4-3087-4945-87E3-76CBB3509B7E}</a:tableStyleId>
              </a:tblPr>
              <a:tblGrid>
                <a:gridCol w="2980267">
                  <a:extLst>
                    <a:ext uri="{9D8B030D-6E8A-4147-A177-3AD203B41FA5}">
                      <a16:colId xmlns:a16="http://schemas.microsoft.com/office/drawing/2014/main" val="559116450"/>
                    </a:ext>
                  </a:extLst>
                </a:gridCol>
                <a:gridCol w="2980267">
                  <a:extLst>
                    <a:ext uri="{9D8B030D-6E8A-4147-A177-3AD203B41FA5}">
                      <a16:colId xmlns:a16="http://schemas.microsoft.com/office/drawing/2014/main" val="707360883"/>
                    </a:ext>
                  </a:extLst>
                </a:gridCol>
                <a:gridCol w="2980267">
                  <a:extLst>
                    <a:ext uri="{9D8B030D-6E8A-4147-A177-3AD203B41FA5}">
                      <a16:colId xmlns:a16="http://schemas.microsoft.com/office/drawing/2014/main" val="3775508153"/>
                    </a:ext>
                  </a:extLst>
                </a:gridCol>
              </a:tblGrid>
              <a:tr h="469692">
                <a:tc>
                  <a:txBody>
                    <a:bodyPr/>
                    <a:lstStyle/>
                    <a:p>
                      <a:r>
                        <a:rPr lang="en-US" sz="1600" b="1" dirty="0">
                          <a:solidFill>
                            <a:schemeClr val="bg1"/>
                          </a:solidFill>
                        </a:rPr>
                        <a:t>Potential gap</a:t>
                      </a:r>
                    </a:p>
                  </a:txBody>
                  <a:tcPr/>
                </a:tc>
                <a:tc>
                  <a:txBody>
                    <a:bodyPr/>
                    <a:lstStyle/>
                    <a:p>
                      <a:r>
                        <a:rPr lang="en-US" sz="1600" b="1" dirty="0">
                          <a:solidFill>
                            <a:schemeClr val="bg1"/>
                          </a:solidFill>
                        </a:rPr>
                        <a:t>Why it matters</a:t>
                      </a:r>
                    </a:p>
                  </a:txBody>
                  <a:tcPr/>
                </a:tc>
                <a:tc>
                  <a:txBody>
                    <a:bodyPr/>
                    <a:lstStyle/>
                    <a:p>
                      <a:r>
                        <a:rPr lang="en-US" sz="1600" b="1" dirty="0">
                          <a:solidFill>
                            <a:schemeClr val="bg1"/>
                          </a:solidFill>
                        </a:rPr>
                        <a:t>Recommended improvement</a:t>
                      </a:r>
                    </a:p>
                  </a:txBody>
                  <a:tcPr/>
                </a:tc>
                <a:extLst>
                  <a:ext uri="{0D108BD9-81ED-4DB2-BD59-A6C34878D82A}">
                    <a16:rowId xmlns:a16="http://schemas.microsoft.com/office/drawing/2014/main" val="1435778042"/>
                  </a:ext>
                </a:extLst>
              </a:tr>
              <a:tr h="926517">
                <a:tc>
                  <a:txBody>
                    <a:bodyPr/>
                    <a:lstStyle/>
                    <a:p>
                      <a:r>
                        <a:rPr lang="en-US" sz="1600" dirty="0">
                          <a:solidFill>
                            <a:schemeClr val="bg1"/>
                          </a:solidFill>
                        </a:rPr>
                        <a:t>Limited enforcement procedures</a:t>
                      </a:r>
                    </a:p>
                  </a:txBody>
                  <a:tcPr/>
                </a:tc>
                <a:tc>
                  <a:txBody>
                    <a:bodyPr/>
                    <a:lstStyle/>
                    <a:p>
                      <a:r>
                        <a:rPr lang="en-US" sz="1600" dirty="0">
                          <a:solidFill>
                            <a:schemeClr val="bg1"/>
                          </a:solidFill>
                        </a:rPr>
                        <a:t>Standards alone don’t ensure developer compliance</a:t>
                      </a:r>
                    </a:p>
                  </a:txBody>
                  <a:tcPr/>
                </a:tc>
                <a:tc>
                  <a:txBody>
                    <a:bodyPr/>
                    <a:lstStyle/>
                    <a:p>
                      <a:r>
                        <a:rPr lang="en-US" sz="1600" dirty="0">
                          <a:solidFill>
                            <a:schemeClr val="bg1"/>
                          </a:solidFill>
                        </a:rPr>
                        <a:t>Require code reviews, automated checks, and documented exceptions</a:t>
                      </a:r>
                    </a:p>
                  </a:txBody>
                  <a:tcPr/>
                </a:tc>
                <a:extLst>
                  <a:ext uri="{0D108BD9-81ED-4DB2-BD59-A6C34878D82A}">
                    <a16:rowId xmlns:a16="http://schemas.microsoft.com/office/drawing/2014/main" val="2394116608"/>
                  </a:ext>
                </a:extLst>
              </a:tr>
              <a:tr h="656283">
                <a:tc>
                  <a:txBody>
                    <a:bodyPr/>
                    <a:lstStyle/>
                    <a:p>
                      <a:r>
                        <a:rPr lang="en-US" sz="1600" dirty="0">
                          <a:solidFill>
                            <a:schemeClr val="bg1"/>
                          </a:solidFill>
                        </a:rPr>
                        <a:t>Incomplete security testing coverage</a:t>
                      </a:r>
                    </a:p>
                  </a:txBody>
                  <a:tcPr/>
                </a:tc>
                <a:tc>
                  <a:txBody>
                    <a:bodyPr/>
                    <a:lstStyle/>
                    <a:p>
                      <a:r>
                        <a:rPr lang="en-US" sz="1600" dirty="0">
                          <a:solidFill>
                            <a:schemeClr val="bg1"/>
                          </a:solidFill>
                        </a:rPr>
                        <a:t>Unit tests and static analysis can’t identify every vulnerability</a:t>
                      </a:r>
                    </a:p>
                  </a:txBody>
                  <a:tcPr/>
                </a:tc>
                <a:tc>
                  <a:txBody>
                    <a:bodyPr/>
                    <a:lstStyle/>
                    <a:p>
                      <a:r>
                        <a:rPr lang="en-US" sz="1600" dirty="0">
                          <a:solidFill>
                            <a:schemeClr val="bg1"/>
                          </a:solidFill>
                        </a:rPr>
                        <a:t>Add dynamic analysis and integration testing</a:t>
                      </a:r>
                    </a:p>
                  </a:txBody>
                  <a:tcPr/>
                </a:tc>
                <a:extLst>
                  <a:ext uri="{0D108BD9-81ED-4DB2-BD59-A6C34878D82A}">
                    <a16:rowId xmlns:a16="http://schemas.microsoft.com/office/drawing/2014/main" val="3386710931"/>
                  </a:ext>
                </a:extLst>
              </a:tr>
              <a:tr h="926517">
                <a:tc>
                  <a:txBody>
                    <a:bodyPr/>
                    <a:lstStyle/>
                    <a:p>
                      <a:r>
                        <a:rPr lang="en-US" sz="1600" dirty="0">
                          <a:solidFill>
                            <a:schemeClr val="bg1"/>
                          </a:solidFill>
                        </a:rPr>
                        <a:t>Insufficient vulnerability management detail</a:t>
                      </a:r>
                    </a:p>
                  </a:txBody>
                  <a:tcPr/>
                </a:tc>
                <a:tc>
                  <a:txBody>
                    <a:bodyPr/>
                    <a:lstStyle/>
                    <a:p>
                      <a:r>
                        <a:rPr lang="en-US" sz="1600" dirty="0">
                          <a:solidFill>
                            <a:schemeClr val="bg1"/>
                          </a:solidFill>
                        </a:rPr>
                        <a:t>Identifying vulnerabilities is not enough without a process in place to fix them </a:t>
                      </a:r>
                    </a:p>
                  </a:txBody>
                  <a:tcPr/>
                </a:tc>
                <a:tc>
                  <a:txBody>
                    <a:bodyPr/>
                    <a:lstStyle/>
                    <a:p>
                      <a:r>
                        <a:rPr lang="en-US" sz="1600" dirty="0">
                          <a:solidFill>
                            <a:schemeClr val="bg1"/>
                          </a:solidFill>
                        </a:rPr>
                        <a:t>Define severity thresholds, remediation deadlines, and retesting requirements</a:t>
                      </a:r>
                    </a:p>
                  </a:txBody>
                  <a:tcPr/>
                </a:tc>
                <a:extLst>
                  <a:ext uri="{0D108BD9-81ED-4DB2-BD59-A6C34878D82A}">
                    <a16:rowId xmlns:a16="http://schemas.microsoft.com/office/drawing/2014/main" val="3713279833"/>
                  </a:ext>
                </a:extLst>
              </a:tr>
              <a:tr h="1196751">
                <a:tc>
                  <a:txBody>
                    <a:bodyPr/>
                    <a:lstStyle/>
                    <a:p>
                      <a:r>
                        <a:rPr lang="en-US" sz="1600" dirty="0">
                          <a:solidFill>
                            <a:schemeClr val="bg1"/>
                          </a:solidFill>
                        </a:rPr>
                        <a:t>Third-party dependency security</a:t>
                      </a:r>
                    </a:p>
                  </a:txBody>
                  <a:tcPr/>
                </a:tc>
                <a:tc>
                  <a:txBody>
                    <a:bodyPr/>
                    <a:lstStyle/>
                    <a:p>
                      <a:r>
                        <a:rPr lang="en-US" sz="1600" dirty="0">
                          <a:solidFill>
                            <a:schemeClr val="bg1"/>
                          </a:solidFill>
                        </a:rPr>
                        <a:t>Vulnerabilities may exist in libraries even when Green Pace’s own code follows its standards</a:t>
                      </a:r>
                    </a:p>
                  </a:txBody>
                  <a:tcPr/>
                </a:tc>
                <a:tc>
                  <a:txBody>
                    <a:bodyPr/>
                    <a:lstStyle/>
                    <a:p>
                      <a:r>
                        <a:rPr lang="en-US" sz="1600" dirty="0">
                          <a:solidFill>
                            <a:schemeClr val="bg1"/>
                          </a:solidFill>
                        </a:rPr>
                        <a:t>Introduce dependency scanning and software supply chain controls</a:t>
                      </a:r>
                    </a:p>
                  </a:txBody>
                  <a:tcPr/>
                </a:tc>
                <a:extLst>
                  <a:ext uri="{0D108BD9-81ED-4DB2-BD59-A6C34878D82A}">
                    <a16:rowId xmlns:a16="http://schemas.microsoft.com/office/drawing/2014/main" val="535325653"/>
                  </a:ext>
                </a:extLst>
              </a:tr>
            </a:tbl>
          </a:graphicData>
        </a:graphic>
      </p:graphicFrame>
      <p:sp>
        <p:nvSpPr>
          <p:cNvPr id="6" name="TextBox 5">
            <a:extLst>
              <a:ext uri="{FF2B5EF4-FFF2-40B4-BE49-F238E27FC236}">
                <a16:creationId xmlns:a16="http://schemas.microsoft.com/office/drawing/2014/main" id="{55257E44-DD3E-4E8F-D779-CF723B11DD85}"/>
              </a:ext>
            </a:extLst>
          </p:cNvPr>
          <p:cNvSpPr txBox="1"/>
          <p:nvPr/>
        </p:nvSpPr>
        <p:spPr>
          <a:xfrm>
            <a:off x="2205704" y="6495334"/>
            <a:ext cx="6591869" cy="307777"/>
          </a:xfrm>
          <a:prstGeom prst="rect">
            <a:avLst/>
          </a:prstGeom>
          <a:noFill/>
        </p:spPr>
        <p:txBody>
          <a:bodyPr wrap="none" rtlCol="0">
            <a:spAutoFit/>
          </a:bodyPr>
          <a:lstStyle/>
          <a:p>
            <a:r>
              <a:rPr lang="en-US" dirty="0">
                <a:solidFill>
                  <a:schemeClr val="bg1"/>
                </a:solidFill>
              </a:rPr>
              <a:t>Supporting frameworks: (Souppaya et al., 2022; OWASP Foundation, n.d., 2025)</a:t>
            </a:r>
          </a:p>
        </p:txBody>
      </p:sp>
      <p:pic>
        <p:nvPicPr>
          <p:cNvPr id="2" name="Recorded Sound">
            <a:hlinkClick r:id="" action="ppaction://media"/>
            <a:extLst>
              <a:ext uri="{FF2B5EF4-FFF2-40B4-BE49-F238E27FC236}">
                <a16:creationId xmlns:a16="http://schemas.microsoft.com/office/drawing/2014/main" id="{A945332A-5B9D-A159-2C39-32EE8CAA9325}"/>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4864" y="45720"/>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4445"/>
    </mc:Choice>
    <mc:Fallback xmlns="">
      <p:transition spd="slow" advTm="644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444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CONCLUSIONS</a:t>
            </a:r>
            <a:endParaRPr dirty="0"/>
          </a:p>
        </p:txBody>
      </p:sp>
      <p:sp>
        <p:nvSpPr>
          <p:cNvPr id="231" name="Google Shape;231;p13"/>
          <p:cNvSpPr txBox="1">
            <a:spLocks noGrp="1"/>
          </p:cNvSpPr>
          <p:nvPr>
            <p:ph type="body" idx="1"/>
          </p:nvPr>
        </p:nvSpPr>
        <p:spPr>
          <a:xfrm>
            <a:off x="685800" y="2087880"/>
            <a:ext cx="10820400" cy="4024125"/>
          </a:xfrm>
          <a:prstGeom prst="rect">
            <a:avLst/>
          </a:prstGeom>
          <a:noFill/>
          <a:ln>
            <a:noFill/>
          </a:ln>
        </p:spPr>
        <p:txBody>
          <a:bodyPr spcFirstLastPara="1" wrap="square" lIns="91425" tIns="45700" rIns="91425" bIns="45700" anchor="t" anchorCtr="0">
            <a:normAutofit/>
          </a:bodyPr>
          <a:lstStyle/>
          <a:p>
            <a:pPr marL="228600" lvl="0" indent="-88900" algn="l" rtl="0">
              <a:lnSpc>
                <a:spcPct val="90000"/>
              </a:lnSpc>
              <a:spcBef>
                <a:spcPts val="1000"/>
              </a:spcBef>
              <a:spcAft>
                <a:spcPts val="0"/>
              </a:spcAft>
              <a:buClr>
                <a:schemeClr val="lt1"/>
              </a:buClr>
              <a:buSzPts val="2200"/>
              <a:buNone/>
            </a:pPr>
            <a:r>
              <a:rPr lang="en-US" dirty="0"/>
              <a:t>Additional Recommended Standards and Frameworks for adoption</a:t>
            </a:r>
            <a:endParaRPr dirty="0"/>
          </a:p>
        </p:txBody>
      </p:sp>
      <p:pic>
        <p:nvPicPr>
          <p:cNvPr id="232" name="Google Shape;232;p13"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graphicFrame>
        <p:nvGraphicFramePr>
          <p:cNvPr id="3" name="Table 2">
            <a:extLst>
              <a:ext uri="{FF2B5EF4-FFF2-40B4-BE49-F238E27FC236}">
                <a16:creationId xmlns:a16="http://schemas.microsoft.com/office/drawing/2014/main" id="{91F69036-9418-3200-92B8-1794EC571E44}"/>
              </a:ext>
            </a:extLst>
          </p:cNvPr>
          <p:cNvGraphicFramePr>
            <a:graphicFrameLocks noGrp="1"/>
          </p:cNvGraphicFramePr>
          <p:nvPr>
            <p:extLst>
              <p:ext uri="{D42A27DB-BD31-4B8C-83A1-F6EECF244321}">
                <p14:modId xmlns:p14="http://schemas.microsoft.com/office/powerpoint/2010/main" val="2048364896"/>
              </p:ext>
            </p:extLst>
          </p:nvPr>
        </p:nvGraphicFramePr>
        <p:xfrm>
          <a:off x="949960" y="2853266"/>
          <a:ext cx="9138920" cy="3395899"/>
        </p:xfrm>
        <a:graphic>
          <a:graphicData uri="http://schemas.openxmlformats.org/drawingml/2006/table">
            <a:tbl>
              <a:tblPr firstRow="1" bandRow="1">
                <a:tableStyleId>{802198C4-3087-4945-87E3-76CBB3509B7E}</a:tableStyleId>
              </a:tblPr>
              <a:tblGrid>
                <a:gridCol w="4569460">
                  <a:extLst>
                    <a:ext uri="{9D8B030D-6E8A-4147-A177-3AD203B41FA5}">
                      <a16:colId xmlns:a16="http://schemas.microsoft.com/office/drawing/2014/main" val="955987571"/>
                    </a:ext>
                  </a:extLst>
                </a:gridCol>
                <a:gridCol w="4569460">
                  <a:extLst>
                    <a:ext uri="{9D8B030D-6E8A-4147-A177-3AD203B41FA5}">
                      <a16:colId xmlns:a16="http://schemas.microsoft.com/office/drawing/2014/main" val="1477161023"/>
                    </a:ext>
                  </a:extLst>
                </a:gridCol>
              </a:tblGrid>
              <a:tr h="473997">
                <a:tc>
                  <a:txBody>
                    <a:bodyPr/>
                    <a:lstStyle/>
                    <a:p>
                      <a:r>
                        <a:rPr lang="en-US" sz="1800" b="1" dirty="0">
                          <a:solidFill>
                            <a:schemeClr val="bg1"/>
                          </a:solidFill>
                        </a:rPr>
                        <a:t>Standard/Framework</a:t>
                      </a:r>
                    </a:p>
                  </a:txBody>
                  <a:tcPr/>
                </a:tc>
                <a:tc>
                  <a:txBody>
                    <a:bodyPr/>
                    <a:lstStyle/>
                    <a:p>
                      <a:r>
                        <a:rPr lang="en-US" sz="1800" b="1" dirty="0">
                          <a:solidFill>
                            <a:schemeClr val="bg1"/>
                          </a:solidFill>
                        </a:rPr>
                        <a:t>Purpose</a:t>
                      </a:r>
                      <a:endParaRPr lang="en-US" sz="1600" b="1" dirty="0">
                        <a:solidFill>
                          <a:schemeClr val="bg1"/>
                        </a:solidFill>
                      </a:endParaRPr>
                    </a:p>
                  </a:txBody>
                  <a:tcPr/>
                </a:tc>
                <a:extLst>
                  <a:ext uri="{0D108BD9-81ED-4DB2-BD59-A6C34878D82A}">
                    <a16:rowId xmlns:a16="http://schemas.microsoft.com/office/drawing/2014/main" val="3931573257"/>
                  </a:ext>
                </a:extLst>
              </a:tr>
              <a:tr h="662298">
                <a:tc>
                  <a:txBody>
                    <a:bodyPr/>
                    <a:lstStyle/>
                    <a:p>
                      <a:r>
                        <a:rPr lang="en-US" sz="1600" dirty="0">
                          <a:solidFill>
                            <a:schemeClr val="bg1"/>
                          </a:solidFill>
                        </a:rPr>
                        <a:t>NIST Secure Software Development Framework (SSDF)</a:t>
                      </a:r>
                    </a:p>
                  </a:txBody>
                  <a:tcPr/>
                </a:tc>
                <a:tc>
                  <a:txBody>
                    <a:bodyPr/>
                    <a:lstStyle/>
                    <a:p>
                      <a:r>
                        <a:rPr lang="en-US" sz="1600" dirty="0">
                          <a:solidFill>
                            <a:schemeClr val="bg1"/>
                          </a:solidFill>
                        </a:rPr>
                        <a:t>Formalize secure development, vulnerability response, and continuous improvement</a:t>
                      </a:r>
                    </a:p>
                  </a:txBody>
                  <a:tcPr/>
                </a:tc>
                <a:extLst>
                  <a:ext uri="{0D108BD9-81ED-4DB2-BD59-A6C34878D82A}">
                    <a16:rowId xmlns:a16="http://schemas.microsoft.com/office/drawing/2014/main" val="4110844697"/>
                  </a:ext>
                </a:extLst>
              </a:tr>
              <a:tr h="662298">
                <a:tc>
                  <a:txBody>
                    <a:bodyPr/>
                    <a:lstStyle/>
                    <a:p>
                      <a:r>
                        <a:rPr lang="en-US" sz="1600" dirty="0">
                          <a:solidFill>
                            <a:schemeClr val="bg1"/>
                          </a:solidFill>
                        </a:rPr>
                        <a:t>OWASP ASVS</a:t>
                      </a:r>
                    </a:p>
                  </a:txBody>
                  <a:tcPr/>
                </a:tc>
                <a:tc>
                  <a:txBody>
                    <a:bodyPr/>
                    <a:lstStyle/>
                    <a:p>
                      <a:r>
                        <a:rPr lang="en-US" sz="1600" dirty="0">
                          <a:solidFill>
                            <a:schemeClr val="bg1"/>
                          </a:solidFill>
                        </a:rPr>
                        <a:t>Establish verifiable security requirements for web applications</a:t>
                      </a:r>
                    </a:p>
                  </a:txBody>
                  <a:tcPr/>
                </a:tc>
                <a:extLst>
                  <a:ext uri="{0D108BD9-81ED-4DB2-BD59-A6C34878D82A}">
                    <a16:rowId xmlns:a16="http://schemas.microsoft.com/office/drawing/2014/main" val="1595347598"/>
                  </a:ext>
                </a:extLst>
              </a:tr>
              <a:tr h="662298">
                <a:tc>
                  <a:txBody>
                    <a:bodyPr/>
                    <a:lstStyle/>
                    <a:p>
                      <a:r>
                        <a:rPr lang="en-US" sz="1600" dirty="0">
                          <a:solidFill>
                            <a:schemeClr val="bg1"/>
                          </a:solidFill>
                        </a:rPr>
                        <a:t>CERT C/C++ Coding Standards</a:t>
                      </a:r>
                    </a:p>
                  </a:txBody>
                  <a:tcPr/>
                </a:tc>
                <a:tc>
                  <a:txBody>
                    <a:bodyPr/>
                    <a:lstStyle/>
                    <a:p>
                      <a:r>
                        <a:rPr lang="en-US" sz="1600" dirty="0">
                          <a:solidFill>
                            <a:schemeClr val="bg1"/>
                          </a:solidFill>
                        </a:rPr>
                        <a:t>Maintain and expand the existing ten coding standards as new vulnerabilities arise</a:t>
                      </a:r>
                    </a:p>
                  </a:txBody>
                  <a:tcPr/>
                </a:tc>
                <a:extLst>
                  <a:ext uri="{0D108BD9-81ED-4DB2-BD59-A6C34878D82A}">
                    <a16:rowId xmlns:a16="http://schemas.microsoft.com/office/drawing/2014/main" val="2342524829"/>
                  </a:ext>
                </a:extLst>
              </a:tr>
              <a:tr h="935008">
                <a:tc>
                  <a:txBody>
                    <a:bodyPr/>
                    <a:lstStyle/>
                    <a:p>
                      <a:r>
                        <a:rPr lang="en-US" sz="1600" dirty="0">
                          <a:solidFill>
                            <a:schemeClr val="bg1"/>
                          </a:solidFill>
                        </a:rPr>
                        <a:t>NIST SP 800-53</a:t>
                      </a:r>
                    </a:p>
                  </a:txBody>
                  <a:tcPr/>
                </a:tc>
                <a:tc>
                  <a:txBody>
                    <a:bodyPr/>
                    <a:lstStyle/>
                    <a:p>
                      <a:r>
                        <a:rPr lang="en-US" sz="1600" dirty="0">
                          <a:solidFill>
                            <a:schemeClr val="bg1"/>
                          </a:solidFill>
                        </a:rPr>
                        <a:t>Provide a broader catalog of security and privacy controls, selected according to Green Pace’s risks</a:t>
                      </a:r>
                    </a:p>
                  </a:txBody>
                  <a:tcPr/>
                </a:tc>
                <a:extLst>
                  <a:ext uri="{0D108BD9-81ED-4DB2-BD59-A6C34878D82A}">
                    <a16:rowId xmlns:a16="http://schemas.microsoft.com/office/drawing/2014/main" val="3057899412"/>
                  </a:ext>
                </a:extLst>
              </a:tr>
            </a:tbl>
          </a:graphicData>
        </a:graphic>
      </p:graphicFrame>
      <p:sp>
        <p:nvSpPr>
          <p:cNvPr id="4" name="TextBox 3">
            <a:extLst>
              <a:ext uri="{FF2B5EF4-FFF2-40B4-BE49-F238E27FC236}">
                <a16:creationId xmlns:a16="http://schemas.microsoft.com/office/drawing/2014/main" id="{9177DDEB-E4A5-73BB-5B2E-4870FB9F4F37}"/>
              </a:ext>
            </a:extLst>
          </p:cNvPr>
          <p:cNvSpPr txBox="1"/>
          <p:nvPr/>
        </p:nvSpPr>
        <p:spPr>
          <a:xfrm>
            <a:off x="561973" y="6435862"/>
            <a:ext cx="9914894" cy="307777"/>
          </a:xfrm>
          <a:prstGeom prst="rect">
            <a:avLst/>
          </a:prstGeom>
          <a:noFill/>
        </p:spPr>
        <p:txBody>
          <a:bodyPr wrap="none" rtlCol="0">
            <a:spAutoFit/>
          </a:bodyPr>
          <a:lstStyle/>
          <a:p>
            <a:r>
              <a:rPr lang="en-US" dirty="0">
                <a:solidFill>
                  <a:schemeClr val="bg1"/>
                </a:solidFill>
              </a:rPr>
              <a:t>Sources: (Souppaya et al., 2022; OWASP Foundation, 2025; Software Engineering Institute, 2017; Joint Task Force, 2020)</a:t>
            </a:r>
          </a:p>
        </p:txBody>
      </p:sp>
      <p:pic>
        <p:nvPicPr>
          <p:cNvPr id="2" name="Recorded Sound">
            <a:hlinkClick r:id="" action="ppaction://media"/>
            <a:extLst>
              <a:ext uri="{FF2B5EF4-FFF2-40B4-BE49-F238E27FC236}">
                <a16:creationId xmlns:a16="http://schemas.microsoft.com/office/drawing/2014/main" id="{32829455-5B61-1AE5-FCBE-15D4AA347D56}"/>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60960" y="54864"/>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0547"/>
    </mc:Choice>
    <mc:Fallback xmlns="">
      <p:transition spd="slow" advTm="705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54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515600" cy="4395191"/>
          </a:xfrm>
          <a:prstGeom prst="rect">
            <a:avLst/>
          </a:prstGeom>
          <a:noFill/>
          <a:ln>
            <a:noFill/>
          </a:ln>
        </p:spPr>
        <p:txBody>
          <a:bodyPr spcFirstLastPara="1" wrap="square" lIns="91425" tIns="45700" rIns="91425" bIns="45700" anchor="t" anchorCtr="0">
            <a:normAutofit fontScale="85000" lnSpcReduction="20000"/>
          </a:bodyPr>
          <a:lstStyle/>
          <a:p>
            <a:pPr marL="0" lvl="0" indent="0">
              <a:spcBef>
                <a:spcPts val="0"/>
              </a:spcBef>
              <a:buSzPts val="2200"/>
              <a:buNone/>
            </a:pPr>
            <a:r>
              <a:rPr lang="en-US" dirty="0"/>
              <a:t>Joint Task Force. (2020). Security and privacy controls for information systems and</a:t>
            </a:r>
          </a:p>
          <a:p>
            <a:pPr marL="0" lvl="0" indent="0">
              <a:spcBef>
                <a:spcPts val="0"/>
              </a:spcBef>
              <a:buSzPts val="2200"/>
              <a:buNone/>
            </a:pPr>
            <a:r>
              <a:rPr lang="en-US" dirty="0"/>
              <a:t>	organizations (NIST Special Publication 800-53, Revision 5). National Institute of</a:t>
            </a:r>
          </a:p>
          <a:p>
            <a:pPr marL="0" lvl="0" indent="0">
              <a:spcBef>
                <a:spcPts val="0"/>
              </a:spcBef>
              <a:buSzPts val="2200"/>
              <a:buNone/>
            </a:pPr>
            <a:r>
              <a:rPr lang="en-US" dirty="0"/>
              <a:t>	Standards and Technology. https://doi.org/10.6028/NIST.SP.800-53r5</a:t>
            </a:r>
          </a:p>
          <a:p>
            <a:pPr marL="0" lvl="0" indent="0">
              <a:spcBef>
                <a:spcPts val="0"/>
              </a:spcBef>
              <a:buSzPts val="2200"/>
              <a:buNone/>
            </a:pPr>
            <a:endParaRPr lang="en-US" dirty="0"/>
          </a:p>
          <a:p>
            <a:pPr marL="0" lvl="0" indent="0">
              <a:spcBef>
                <a:spcPts val="0"/>
              </a:spcBef>
              <a:buSzPts val="2200"/>
              <a:buNone/>
            </a:pPr>
            <a:r>
              <a:rPr lang="en-US" dirty="0"/>
              <a:t>OWASP Foundation. (2025). OWASP application security verification standard</a:t>
            </a:r>
          </a:p>
          <a:p>
            <a:pPr marL="0" lvl="0" indent="0">
              <a:spcBef>
                <a:spcPts val="0"/>
              </a:spcBef>
              <a:buSzPts val="2200"/>
              <a:buNone/>
            </a:pPr>
            <a:r>
              <a:rPr lang="en-US" dirty="0"/>
              <a:t>	(Version 5.0.0). https://github.com/OWASP/ASVS/tree/master/5.0</a:t>
            </a:r>
          </a:p>
          <a:p>
            <a:pPr marL="0" lvl="0" indent="0">
              <a:spcBef>
                <a:spcPts val="0"/>
              </a:spcBef>
              <a:buSzPts val="2200"/>
              <a:buNone/>
            </a:pPr>
            <a:endParaRPr lang="en-US" dirty="0"/>
          </a:p>
          <a:p>
            <a:pPr marL="0" lvl="0" indent="0">
              <a:spcBef>
                <a:spcPts val="0"/>
              </a:spcBef>
              <a:buSzPts val="2200"/>
              <a:buNone/>
            </a:pPr>
            <a:r>
              <a:rPr lang="en-US" dirty="0"/>
              <a:t>OWASP Foundation. (n.d.). OWASP software component verification standard.</a:t>
            </a:r>
          </a:p>
          <a:p>
            <a:pPr marL="0" lvl="0" indent="0">
              <a:spcBef>
                <a:spcPts val="0"/>
              </a:spcBef>
              <a:buSzPts val="2200"/>
              <a:buNone/>
            </a:pPr>
            <a:r>
              <a:rPr lang="en-US" dirty="0"/>
              <a:t>	https://owasp.org/projects/software-component-verification-standard/</a:t>
            </a:r>
          </a:p>
          <a:p>
            <a:pPr marL="0" lvl="0" indent="0">
              <a:spcBef>
                <a:spcPts val="0"/>
              </a:spcBef>
              <a:buSzPts val="2200"/>
              <a:buNone/>
            </a:pPr>
            <a:endParaRPr lang="en-US" dirty="0"/>
          </a:p>
          <a:p>
            <a:pPr marL="0" lvl="0" indent="0">
              <a:spcBef>
                <a:spcPts val="0"/>
              </a:spcBef>
              <a:buSzPts val="2200"/>
              <a:buNone/>
            </a:pPr>
            <a:r>
              <a:rPr lang="en-US" dirty="0"/>
              <a:t>Software Engineering Institute. (2017, March 14). SEI CERT C++ coding standard: Rules for</a:t>
            </a:r>
          </a:p>
          <a:p>
            <a:pPr marL="0" lvl="0" indent="0">
              <a:spcBef>
                <a:spcPts val="0"/>
              </a:spcBef>
              <a:buSzPts val="2200"/>
              <a:buNone/>
            </a:pPr>
            <a:r>
              <a:rPr lang="en-US" dirty="0"/>
              <a:t>	developing safe, reliable, and secure systems (2016 edition). Carnegie Mellon</a:t>
            </a:r>
          </a:p>
          <a:p>
            <a:pPr marL="0" lvl="0" indent="0">
              <a:spcBef>
                <a:spcPts val="0"/>
              </a:spcBef>
              <a:buSzPts val="2200"/>
              <a:buNone/>
            </a:pPr>
            <a:r>
              <a:rPr lang="en-US" dirty="0"/>
              <a:t>	University. https://www.sei.cmu.edu/library/sei-cert-c-coding-standard-rules-for</a:t>
            </a:r>
          </a:p>
          <a:p>
            <a:pPr marL="0" lvl="0" indent="0">
              <a:spcBef>
                <a:spcPts val="0"/>
              </a:spcBef>
              <a:buSzPts val="2200"/>
              <a:buNone/>
            </a:pPr>
            <a:r>
              <a:rPr lang="en-US" dirty="0"/>
              <a:t>	-developing-safe-reliable-and-secure-systems-2016-edition-2/</a:t>
            </a:r>
          </a:p>
          <a:p>
            <a:pPr marL="0" lvl="0" indent="0">
              <a:spcBef>
                <a:spcPts val="0"/>
              </a:spcBef>
              <a:buSzPts val="2200"/>
              <a:buNone/>
            </a:pPr>
            <a:endParaRPr lang="en-US" dirty="0"/>
          </a:p>
          <a:p>
            <a:pPr marL="0" lvl="0" indent="0">
              <a:spcBef>
                <a:spcPts val="0"/>
              </a:spcBef>
              <a:buSzPts val="2200"/>
              <a:buNone/>
            </a:pPr>
            <a:r>
              <a:rPr lang="en-US" dirty="0"/>
              <a:t>Souppaya, M., Scarfone, K., &amp; Dodson, D. (2022). Secure software development </a:t>
            </a:r>
          </a:p>
          <a:p>
            <a:pPr marL="0" lvl="0" indent="0">
              <a:spcBef>
                <a:spcPts val="0"/>
              </a:spcBef>
              <a:buSzPts val="2200"/>
              <a:buNone/>
            </a:pPr>
            <a:r>
              <a:rPr lang="en-US" dirty="0"/>
              <a:t>	framework (SSDF) version 1.1: Recommendations for mitigating the risk of</a:t>
            </a:r>
          </a:p>
          <a:p>
            <a:pPr marL="0" lvl="0" indent="0">
              <a:spcBef>
                <a:spcPts val="0"/>
              </a:spcBef>
              <a:buSzPts val="2200"/>
              <a:buNone/>
            </a:pPr>
            <a:r>
              <a:rPr lang="en-US" dirty="0"/>
              <a:t>	software vulnerabilities (NIST Special Publication 800-218). National Institute of</a:t>
            </a:r>
          </a:p>
          <a:p>
            <a:pPr marL="0" lvl="0" indent="0">
              <a:spcBef>
                <a:spcPts val="0"/>
              </a:spcBef>
              <a:buSzPts val="2200"/>
              <a:buNone/>
            </a:pPr>
            <a:r>
              <a:rPr lang="en-US" dirty="0"/>
              <a:t>	Standards and Technology. https://doi.org/10.6028/NIST.SP.800-218</a:t>
            </a:r>
          </a:p>
          <a:p>
            <a:pPr marL="0" lvl="0" indent="0">
              <a:spcBef>
                <a:spcPts val="0"/>
              </a:spcBef>
              <a:buSzPts val="2200"/>
              <a:buNone/>
            </a:pPr>
            <a:endParaRPr lang="en-US" dirty="0"/>
          </a:p>
          <a:p>
            <a:pPr marL="0" lvl="0" indent="0">
              <a:spcBef>
                <a:spcPts val="0"/>
              </a:spcBef>
              <a:buSzPts val="2200"/>
              <a:buNone/>
            </a:pPr>
            <a:endParaRPr dirty="0"/>
          </a:p>
        </p:txBody>
      </p:sp>
      <p:pic>
        <p:nvPicPr>
          <p:cNvPr id="239" name="Google Shape;239;p14" descr="Green Pace logo"/>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CE85C180-ED20-503B-3A52-E76F0FDF4873}"/>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48768" y="54864"/>
            <a:ext cx="609600" cy="609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808"/>
    </mc:Choice>
    <mc:Fallback xmlns="">
      <p:transition spd="slow" advTm="178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80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otalTime>549</TotalTime>
  <Words>2561</Words>
  <Application>Microsoft Office PowerPoint</Application>
  <PresentationFormat>Widescreen</PresentationFormat>
  <Paragraphs>296</Paragraphs>
  <Slides>19</Slides>
  <Notes>19</Notes>
  <HiddenSlides>0</HiddenSlides>
  <MMClips>19</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vt:lpstr>
      <vt:lpstr>Unit Testing</vt:lpstr>
      <vt:lpstr>Unit Testing</vt:lpstr>
      <vt:lpstr>Unit Testing</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Manley, Grant</cp:lastModifiedBy>
  <cp:revision>4</cp:revision>
  <dcterms:created xsi:type="dcterms:W3CDTF">2020-08-19T17:59:24Z</dcterms:created>
  <dcterms:modified xsi:type="dcterms:W3CDTF">2026-10-23T16:23:05Z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